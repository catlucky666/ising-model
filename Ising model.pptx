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7" r:id="rId4"/>
    <p:sldId id="258" r:id="rId5"/>
    <p:sldId id="259" r:id="rId6"/>
    <p:sldId id="260" r:id="rId7"/>
    <p:sldId id="271" r:id="rId8"/>
    <p:sldId id="268" r:id="rId9"/>
    <p:sldId id="262" r:id="rId10"/>
    <p:sldId id="263" r:id="rId11"/>
    <p:sldId id="276" r:id="rId12"/>
    <p:sldId id="272" r:id="rId13"/>
    <p:sldId id="277" r:id="rId14"/>
    <p:sldId id="270" r:id="rId15"/>
    <p:sldId id="273" r:id="rId16"/>
    <p:sldId id="266" r:id="rId17"/>
    <p:sldId id="274" r:id="rId18"/>
    <p:sldId id="278" r:id="rId19"/>
    <p:sldId id="281" r:id="rId20"/>
    <p:sldId id="279" r:id="rId21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94" autoAdjust="0"/>
    <p:restoredTop sz="94660"/>
  </p:normalViewPr>
  <p:slideViewPr>
    <p:cSldViewPr snapToGrid="0">
      <p:cViewPr varScale="1">
        <p:scale>
          <a:sx n="126" d="100"/>
          <a:sy n="126" d="100"/>
        </p:scale>
        <p:origin x="8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0DAAA-A805-483B-AD1F-C008BDE114A5}" type="datetimeFigureOut">
              <a:rPr lang="zh-TW" altLang="en-US" smtClean="0"/>
              <a:t>2026/5/23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73BA4-2445-4A13-A5C1-C34997DF4F8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9994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0DAAA-A805-483B-AD1F-C008BDE114A5}" type="datetimeFigureOut">
              <a:rPr lang="zh-TW" altLang="en-US" smtClean="0"/>
              <a:t>2026/5/23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73BA4-2445-4A13-A5C1-C34997DF4F8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9053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0DAAA-A805-483B-AD1F-C008BDE114A5}" type="datetimeFigureOut">
              <a:rPr lang="zh-TW" altLang="en-US" smtClean="0"/>
              <a:t>2026/5/23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73BA4-2445-4A13-A5C1-C34997DF4F8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60977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0DAAA-A805-483B-AD1F-C008BDE114A5}" type="datetimeFigureOut">
              <a:rPr lang="zh-TW" altLang="en-US" smtClean="0"/>
              <a:t>2026/5/23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73BA4-2445-4A13-A5C1-C34997DF4F8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730570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0DAAA-A805-483B-AD1F-C008BDE114A5}" type="datetimeFigureOut">
              <a:rPr lang="zh-TW" altLang="en-US" smtClean="0"/>
              <a:t>2026/5/23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73BA4-2445-4A13-A5C1-C34997DF4F8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404565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0DAAA-A805-483B-AD1F-C008BDE114A5}" type="datetimeFigureOut">
              <a:rPr lang="zh-TW" altLang="en-US" smtClean="0"/>
              <a:t>2026/5/23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73BA4-2445-4A13-A5C1-C34997DF4F8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18293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0DAAA-A805-483B-AD1F-C008BDE114A5}" type="datetimeFigureOut">
              <a:rPr lang="zh-TW" altLang="en-US" smtClean="0"/>
              <a:t>2026/5/23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73BA4-2445-4A13-A5C1-C34997DF4F8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111783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0DAAA-A805-483B-AD1F-C008BDE114A5}" type="datetimeFigureOut">
              <a:rPr lang="zh-TW" altLang="en-US" smtClean="0"/>
              <a:t>2026/5/23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73BA4-2445-4A13-A5C1-C34997DF4F8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91769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0DAAA-A805-483B-AD1F-C008BDE114A5}" type="datetimeFigureOut">
              <a:rPr lang="zh-TW" altLang="en-US" smtClean="0"/>
              <a:t>2026/5/23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73BA4-2445-4A13-A5C1-C34997DF4F8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63454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說明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0DAAA-A805-483B-AD1F-C008BDE114A5}" type="datetimeFigureOut">
              <a:rPr lang="zh-TW" altLang="en-US" smtClean="0"/>
              <a:t>2026/5/23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73BA4-2445-4A13-A5C1-C34997DF4F8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4259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標題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0DAAA-A805-483B-AD1F-C008BDE114A5}" type="datetimeFigureOut">
              <a:rPr lang="zh-TW" altLang="en-US" smtClean="0"/>
              <a:t>2026/5/23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73BA4-2445-4A13-A5C1-C34997DF4F8B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606923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0DAAA-A805-483B-AD1F-C008BDE114A5}" type="datetimeFigureOut">
              <a:rPr lang="zh-TW" altLang="en-US" smtClean="0"/>
              <a:t>2026/5/23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73BA4-2445-4A13-A5C1-C34997DF4F8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026120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0DAAA-A805-483B-AD1F-C008BDE114A5}" type="datetimeFigureOut">
              <a:rPr lang="zh-TW" altLang="en-US" smtClean="0"/>
              <a:t>2026/5/23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73BA4-2445-4A13-A5C1-C34997DF4F8B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865882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是非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0DAAA-A805-483B-AD1F-C008BDE114A5}" type="datetimeFigureOut">
              <a:rPr lang="zh-TW" altLang="en-US" smtClean="0"/>
              <a:t>2026/5/23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73BA4-2445-4A13-A5C1-C34997DF4F8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70462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0DAAA-A805-483B-AD1F-C008BDE114A5}" type="datetimeFigureOut">
              <a:rPr lang="zh-TW" altLang="en-US" smtClean="0"/>
              <a:t>2026/5/23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73BA4-2445-4A13-A5C1-C34997DF4F8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682882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0DAAA-A805-483B-AD1F-C008BDE114A5}" type="datetimeFigureOut">
              <a:rPr lang="zh-TW" altLang="en-US" smtClean="0"/>
              <a:t>2026/5/23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73BA4-2445-4A13-A5C1-C34997DF4F8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984003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30DAAA-A805-483B-AD1F-C008BDE114A5}" type="datetimeFigureOut">
              <a:rPr lang="zh-TW" altLang="en-US" smtClean="0"/>
              <a:t>2026/5/23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7DE73BA4-2445-4A13-A5C1-C34997DF4F8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25615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zh.wikipedia.org/zh-tw/%E6%98%93%E8%BE%9B%E6%A8%A1%E5%9E%8B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err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Ising</a:t>
            </a:r>
            <a:r>
              <a:rPr lang="en-US" altLang="zh-TW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model</a:t>
            </a:r>
            <a:endParaRPr lang="zh-TW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S14210017</a:t>
            </a:r>
            <a:endParaRPr lang="zh-TW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32649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目錄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/>
              <a:t>Ising</a:t>
            </a:r>
            <a:r>
              <a:rPr lang="en-US" altLang="zh-TW" dirty="0"/>
              <a:t> model</a:t>
            </a:r>
            <a:r>
              <a:rPr lang="zh-TW" altLang="en-US" dirty="0"/>
              <a:t>介紹</a:t>
            </a:r>
          </a:p>
          <a:p>
            <a:r>
              <a:rPr lang="en-US" altLang="zh-TW" dirty="0"/>
              <a:t>algorithm</a:t>
            </a:r>
            <a:r>
              <a:rPr lang="zh-TW" altLang="en-US" dirty="0"/>
              <a:t>介紹</a:t>
            </a:r>
          </a:p>
          <a:p>
            <a:r>
              <a:rPr lang="zh-TW" altLang="en-US" dirty="0" smtClean="0"/>
              <a:t>分析介紹</a:t>
            </a:r>
            <a:endParaRPr lang="zh-TW" altLang="en-US" dirty="0"/>
          </a:p>
          <a:p>
            <a:r>
              <a:rPr lang="zh-TW" altLang="en-US" dirty="0"/>
              <a:t>分析</a:t>
            </a:r>
            <a:r>
              <a:rPr lang="zh-TW" altLang="en-US" dirty="0" smtClean="0"/>
              <a:t>結果與討論</a:t>
            </a:r>
            <a:endParaRPr lang="en-US" altLang="zh-TW" dirty="0" smtClean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5110698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err="1" smtClean="0"/>
              <a:t>Ising</a:t>
            </a:r>
            <a:r>
              <a:rPr lang="en-US" altLang="zh-TW" dirty="0" smtClean="0"/>
              <a:t> Model </a:t>
            </a:r>
            <a:r>
              <a:rPr lang="zh-TW" altLang="en-US" dirty="0" smtClean="0"/>
              <a:t>介紹</a:t>
            </a:r>
            <a:endParaRPr lang="zh-TW" altLang="en-US" dirty="0"/>
          </a:p>
        </p:txBody>
      </p:sp>
      <p:sp>
        <p:nvSpPr>
          <p:cNvPr id="5" name="副標題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980032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關於</a:t>
            </a:r>
            <a:r>
              <a:rPr lang="en-US" altLang="zh-TW" dirty="0" err="1" smtClean="0"/>
              <a:t>Ising</a:t>
            </a:r>
            <a:r>
              <a:rPr lang="en-US" altLang="zh-TW" dirty="0" smtClean="0"/>
              <a:t> model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是一個數學模型，在一個平面上會以</a:t>
            </a:r>
            <a:r>
              <a:rPr lang="en-US" altLang="zh-TW" dirty="0" smtClean="0"/>
              <a:t>+1</a:t>
            </a:r>
            <a:r>
              <a:rPr lang="zh-TW" altLang="en-US" dirty="0" smtClean="0"/>
              <a:t>與</a:t>
            </a:r>
            <a:r>
              <a:rPr lang="en-US" altLang="zh-TW" dirty="0" smtClean="0"/>
              <a:t>-1</a:t>
            </a:r>
            <a:r>
              <a:rPr lang="zh-TW" altLang="en-US" dirty="0" smtClean="0"/>
              <a:t>描述一個原子的自旋狀態，並設計成會與相鄰相互影響，以此來摸索相變</a:t>
            </a:r>
            <a:endParaRPr lang="en-US" altLang="zh-TW" dirty="0" smtClean="0"/>
          </a:p>
          <a:p>
            <a:r>
              <a:rPr lang="zh-TW" altLang="en-US" dirty="0" smtClean="0"/>
              <a:t>理論上系統會自動改變往能量最低解靠近，為一個最佳化</a:t>
            </a:r>
            <a:r>
              <a:rPr lang="en-US" altLang="zh-TW" dirty="0" smtClean="0"/>
              <a:t>(Optimization)</a:t>
            </a:r>
            <a:r>
              <a:rPr lang="zh-TW" altLang="en-US" dirty="0" smtClean="0"/>
              <a:t>問題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3619457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Ising</a:t>
            </a:r>
            <a:r>
              <a:rPr lang="en-US" altLang="zh-TW" dirty="0"/>
              <a:t> </a:t>
            </a:r>
            <a:r>
              <a:rPr lang="en-US" altLang="zh-TW" dirty="0" smtClean="0"/>
              <a:t>model</a:t>
            </a:r>
            <a:r>
              <a:rPr lang="zh-TW" altLang="en-US" dirty="0" smtClean="0"/>
              <a:t>核</a:t>
            </a:r>
            <a:r>
              <a:rPr lang="zh-TW" altLang="en-US" dirty="0"/>
              <a:t>心</a:t>
            </a:r>
            <a:r>
              <a:rPr lang="zh-TW" altLang="en-US" dirty="0" smtClean="0"/>
              <a:t>定義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TW" altLang="en-US" dirty="0" smtClean="0"/>
                  <a:t>嚴格定義如下：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zh-TW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TW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</m:d>
                    <m:r>
                      <a:rPr lang="en-US" altLang="zh-TW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∑"/>
                        <m:supHide m:val="on"/>
                        <m:ctrlPr>
                          <a:rPr lang="zh-TW" altLang="zh-TW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TW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m:rPr>
                            <m:sty m:val="p"/>
                          </m:rPr>
                          <a:rPr lang="en-US" altLang="zh-TW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n-US" altLang="zh-TW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zh-TW">
                            <a:latin typeface="Cambria Math" panose="02040503050406030204" pitchFamily="18" charset="0"/>
                          </a:rPr>
                          <m:t>j</m:t>
                        </m:r>
                        <m:r>
                          <a:rPr lang="en-US" altLang="zh-TW">
                            <a:latin typeface="Cambria Math" panose="02040503050406030204" pitchFamily="18" charset="0"/>
                          </a:rPr>
                          <m:t>&gt;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zh-TW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TW">
                                <a:latin typeface="Cambria Math" panose="02040503050406030204" pitchFamily="18" charset="0"/>
                              </a:rPr>
                              <m:t>J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sSub>
                          <m:sSubPr>
                            <m:ctrlPr>
                              <a:rPr lang="zh-TW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TW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  <m:sSub>
                          <m:sSubPr>
                            <m:ctrlPr>
                              <a:rPr lang="zh-TW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TW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>
                                <a:latin typeface="Cambria Math" panose="02040503050406030204" pitchFamily="18" charset="0"/>
                              </a:rPr>
                              <m:t>j</m:t>
                            </m:r>
                          </m:sub>
                        </m:sSub>
                      </m:e>
                    </m:nary>
                    <m:r>
                      <a:rPr lang="en-US" altLang="zh-TW" i="1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altLang="zh-TW">
                        <a:latin typeface="Cambria Math" panose="02040503050406030204" pitchFamily="18" charset="0"/>
                      </a:rPr>
                      <m:t>μ</m:t>
                    </m:r>
                    <m:nary>
                      <m:naryPr>
                        <m:chr m:val="∑"/>
                        <m:supHide m:val="on"/>
                        <m:ctrlPr>
                          <a:rPr lang="zh-TW" altLang="zh-TW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US" altLang="zh-TW">
                            <a:latin typeface="Cambria Math" panose="02040503050406030204" pitchFamily="18" charset="0"/>
                          </a:rPr>
                          <m:t>j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zh-TW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TW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>
                                <a:latin typeface="Cambria Math" panose="02040503050406030204" pitchFamily="18" charset="0"/>
                              </a:rPr>
                              <m:t>j</m:t>
                            </m:r>
                          </m:sub>
                        </m:sSub>
                        <m:sSub>
                          <m:sSubPr>
                            <m:ctrlPr>
                              <a:rPr lang="zh-TW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TW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>
                                <a:latin typeface="Cambria Math" panose="02040503050406030204" pitchFamily="18" charset="0"/>
                              </a:rPr>
                              <m:t>j</m:t>
                            </m:r>
                          </m:sub>
                        </m:sSub>
                      </m:e>
                    </m:nary>
                  </m:oMath>
                </a14:m>
                <a:endParaRPr lang="en-US" altLang="zh-TW" dirty="0" smtClean="0"/>
              </a:p>
              <a:p>
                <a:r>
                  <a:rPr lang="zh-TW" altLang="en-US" dirty="0" smtClean="0"/>
                  <a:t>看不懂，不重要，總之簡化如下：</a:t>
                </a:r>
                <a:endParaRPr lang="zh-TW" altLang="zh-TW" dirty="0"/>
              </a:p>
              <a:p>
                <a:endParaRPr lang="en-US" altLang="zh-TW" dirty="0" smtClean="0"/>
              </a:p>
              <a:p>
                <a:pPr marL="0" indent="0">
                  <a:buNone/>
                </a:pPr>
                <a:endParaRPr lang="en-US" altLang="zh-TW" dirty="0" smtClean="0"/>
              </a:p>
              <a:p>
                <a:r>
                  <a:rPr lang="zh-TW" altLang="en-US" dirty="0" smtClean="0"/>
                  <a:t>翻譯成公式是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zh-TW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altLang="zh-TW" i="1">
                        <a:latin typeface="Cambria Math" panose="02040503050406030204" pitchFamily="18" charset="0"/>
                      </a:rPr>
                      <m:t>J</m:t>
                    </m:r>
                    <m:nary>
                      <m:naryPr>
                        <m:chr m:val="∑"/>
                        <m:supHide m:val="on"/>
                        <m:ctrlPr>
                          <a:rPr lang="zh-TW" altLang="zh-TW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TW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m:rPr>
                            <m:sty m:val="p"/>
                          </m:rPr>
                          <a:rPr lang="en-US" altLang="zh-TW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n-US" altLang="zh-TW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zh-TW">
                            <a:latin typeface="Cambria Math" panose="02040503050406030204" pitchFamily="18" charset="0"/>
                          </a:rPr>
                          <m:t>j</m:t>
                        </m:r>
                        <m:r>
                          <a:rPr lang="en-US" altLang="zh-TW">
                            <a:latin typeface="Cambria Math" panose="02040503050406030204" pitchFamily="18" charset="0"/>
                          </a:rPr>
                          <m:t>&gt;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zh-TW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  <m:sSub>
                          <m:sSubPr>
                            <m:ctrlPr>
                              <a:rPr lang="zh-TW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TW" b="0" i="0" smtClean="0"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>
                                <a:latin typeface="Cambria Math" panose="02040503050406030204" pitchFamily="18" charset="0"/>
                              </a:rPr>
                              <m:t>j</m:t>
                            </m:r>
                          </m:sub>
                        </m:sSub>
                      </m:e>
                    </m:nary>
                  </m:oMath>
                </a14:m>
                <a:r>
                  <a:rPr lang="zh-TW" altLang="en-US" dirty="0" smtClean="0"/>
                  <a:t>。</a:t>
                </a:r>
                <a:r>
                  <a:rPr lang="zh-TW" altLang="en-US" dirty="0"/>
                  <a:t>意思就是基於周邊鄰居</a:t>
                </a:r>
                <a:r>
                  <a:rPr lang="en-US" altLang="zh-TW" dirty="0"/>
                  <a:t>(</a:t>
                </a:r>
                <a:r>
                  <a:rPr lang="zh-TW" altLang="en-US" dirty="0"/>
                  <a:t>原子</a:t>
                </a:r>
                <a:r>
                  <a:rPr lang="en-US" altLang="zh-TW" dirty="0"/>
                  <a:t>)</a:t>
                </a:r>
                <a:r>
                  <a:rPr lang="zh-TW" altLang="en-US" dirty="0"/>
                  <a:t>的變化量來更新現有的總</a:t>
                </a:r>
                <a:r>
                  <a:rPr lang="zh-TW" altLang="en-US" dirty="0" smtClean="0"/>
                  <a:t>能量，同時為了簡化複雜度，捨棄了外加磁場的</a:t>
                </a:r>
                <a:r>
                  <a:rPr lang="zh-TW" altLang="en-US" dirty="0" smtClean="0"/>
                  <a:t>因素</a:t>
                </a:r>
                <a:endParaRPr lang="en-US" altLang="zh-TW" dirty="0" smtClean="0"/>
              </a:p>
              <a:p>
                <a:endParaRPr lang="en-US" altLang="zh-TW" dirty="0" smtClean="0"/>
              </a:p>
              <a:p>
                <a:endParaRPr lang="en-US" altLang="zh-TW" dirty="0"/>
              </a:p>
              <a:p>
                <a:endParaRPr lang="en-US" altLang="zh-TW" dirty="0" smtClean="0"/>
              </a:p>
              <a:p>
                <a:pPr marL="0" indent="0">
                  <a:buNone/>
                </a:pPr>
                <a:r>
                  <a:rPr lang="en-US" altLang="zh-TW" sz="1200" dirty="0">
                    <a:hlinkClick r:id="rId2"/>
                  </a:rPr>
                  <a:t>https://zh.wikipedia.org/zh-tw/%</a:t>
                </a:r>
                <a:r>
                  <a:rPr lang="en-US" altLang="zh-TW" sz="1200" dirty="0" smtClean="0">
                    <a:hlinkClick r:id="rId2"/>
                  </a:rPr>
                  <a:t>E6%98%93%E8%BE%9B%E6%A8%A1%E5%9E%8B</a:t>
                </a:r>
                <a:r>
                  <a:rPr lang="zh-TW" altLang="en-US" sz="1200" dirty="0" smtClean="0"/>
                  <a:t>。其實往後都是從這來的，就不列了</a:t>
                </a:r>
                <a:endParaRPr lang="en-US" altLang="zh-TW" sz="1200" dirty="0" smtClean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142" t="-1130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圖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8031" y="2979636"/>
            <a:ext cx="7335274" cy="704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5501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Ising</a:t>
            </a:r>
            <a:r>
              <a:rPr lang="en-US" altLang="zh-TW" dirty="0"/>
              <a:t> </a:t>
            </a:r>
            <a:r>
              <a:rPr lang="en-US" altLang="zh-TW" dirty="0" smtClean="0"/>
              <a:t>model</a:t>
            </a:r>
            <a:r>
              <a:rPr lang="zh-TW" altLang="en-US" dirty="0" smtClean="0"/>
              <a:t>平衡狀態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TW" altLang="en-US" dirty="0" smtClean="0"/>
                  <a:t>平衡狀態呈現波茲曼分佈：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𝛽</m:t>
                        </m:r>
                      </m:sub>
                    </m:sSub>
                    <m:d>
                      <m:dPr>
                        <m:ctrlPr>
                          <a:rPr lang="zh-TW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</m:d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TW" altLang="zh-TW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zh-TW" altLang="zh-TW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num>
                      <m:den>
                        <m:sSub>
                          <m:sSubPr>
                            <m:ctrlPr>
                              <a:rPr lang="zh-TW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sub>
                        </m:sSub>
                      </m:den>
                    </m:f>
                  </m:oMath>
                </a14:m>
                <a:endParaRPr lang="en-US" altLang="zh-TW" dirty="0" smtClean="0"/>
              </a:p>
              <a:p>
                <a:r>
                  <a:rPr lang="zh-TW" altLang="en-US" dirty="0" smtClean="0"/>
                  <a:t>不過我都用演算法了，沒必要把他照抄上去，</a:t>
                </a:r>
                <a:r>
                  <a:rPr lang="zh-TW" altLang="en-US" dirty="0"/>
                  <a:t>簡化</a:t>
                </a:r>
                <a:r>
                  <a:rPr lang="zh-TW" altLang="en-US" dirty="0" smtClean="0"/>
                  <a:t>如下。同時因為狀態不多，所以直接定義好了，剩下的相信蒙地卡羅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42" r="-7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8332" y="3538921"/>
            <a:ext cx="6668431" cy="1124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6573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 </a:t>
            </a:r>
            <a:r>
              <a:rPr lang="en-US" altLang="zh-TW" dirty="0" smtClean="0"/>
              <a:t>, T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TW" altLang="en-US" dirty="0"/>
                  <a:t>磁化程度</a:t>
                </a:r>
                <a:r>
                  <a:rPr lang="en-US" altLang="zh-TW" dirty="0"/>
                  <a:t>M</a:t>
                </a:r>
                <a:r>
                  <a:rPr lang="zh-TW" altLang="en-US" dirty="0"/>
                  <a:t>是簡化整張自旋地圖的變數，若自旋結果越相似</a:t>
                </a:r>
                <a:r>
                  <a:rPr lang="en-US" altLang="zh-TW" dirty="0"/>
                  <a:t>(</a:t>
                </a:r>
                <a:r>
                  <a:rPr lang="zh-TW" altLang="en-US" dirty="0"/>
                  <a:t>同方向</a:t>
                </a:r>
                <a:r>
                  <a:rPr lang="en-US" altLang="zh-TW" dirty="0"/>
                  <a:t>)</a:t>
                </a:r>
                <a:r>
                  <a:rPr lang="zh-TW" altLang="en-US" dirty="0"/>
                  <a:t>，</a:t>
                </a:r>
                <a:r>
                  <a:rPr lang="en-US" altLang="zh-TW" dirty="0"/>
                  <a:t>|M|</a:t>
                </a:r>
                <a:r>
                  <a:rPr lang="zh-TW" altLang="en-US" dirty="0"/>
                  <a:t>會越接近</a:t>
                </a:r>
                <a:r>
                  <a:rPr lang="en-US" altLang="zh-TW" dirty="0"/>
                  <a:t>1</a:t>
                </a:r>
                <a:r>
                  <a:rPr lang="zh-TW" altLang="en-US" dirty="0"/>
                  <a:t>，反之則接近</a:t>
                </a:r>
                <a:r>
                  <a:rPr lang="en-US" altLang="zh-TW" dirty="0"/>
                  <a:t>0</a:t>
                </a:r>
                <a:r>
                  <a:rPr lang="zh-TW" altLang="en-US" dirty="0" smtClean="0"/>
                  <a:t>。</a:t>
                </a:r>
                <a:endParaRPr lang="en-US" altLang="zh-TW" dirty="0" smtClean="0"/>
              </a:p>
              <a:p>
                <a:r>
                  <a:rPr lang="zh-TW" altLang="en-US" dirty="0" smtClean="0"/>
                  <a:t>溫度</a:t>
                </a:r>
                <a:r>
                  <a:rPr lang="en-US" altLang="zh-TW" dirty="0" smtClean="0"/>
                  <a:t>T</a:t>
                </a:r>
                <a:r>
                  <a:rPr lang="zh-TW" altLang="en-US" dirty="0" smtClean="0"/>
                  <a:t>。就溫度</a:t>
                </a:r>
                <a:endParaRPr lang="en-US" altLang="zh-TW" dirty="0" smtClean="0"/>
              </a:p>
              <a:p>
                <a:r>
                  <a:rPr lang="en-US" altLang="zh-TW" dirty="0" smtClean="0"/>
                  <a:t>Lars Onsager</a:t>
                </a:r>
                <a:r>
                  <a:rPr lang="zh-TW" altLang="en-US" dirty="0" smtClean="0"/>
                  <a:t>對於二維</a:t>
                </a:r>
                <a:r>
                  <a:rPr lang="en-US" altLang="zh-TW" dirty="0" err="1" smtClean="0"/>
                  <a:t>Ising</a:t>
                </a:r>
                <a:r>
                  <a:rPr lang="en-US" altLang="zh-TW" dirty="0" smtClean="0"/>
                  <a:t> model</a:t>
                </a:r>
                <a:r>
                  <a:rPr lang="zh-TW" altLang="en-US" dirty="0" smtClean="0"/>
                  <a:t>做出解析解，公式為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sSub>
                      <m:sSubPr>
                        <m:ctrlPr>
                          <a:rPr lang="zh-TW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zh-TW" altLang="zh-TW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𝐽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TW"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US" altLang="zh-TW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(1+ </m:t>
                        </m:r>
                        <m:rad>
                          <m:radPr>
                            <m:degHide m:val="on"/>
                            <m:ctrlPr>
                              <a:rPr lang="zh-TW" altLang="zh-TW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zh-TW" altLang="en-US" i="1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endParaRPr lang="en-US" altLang="zh-TW" dirty="0" smtClean="0"/>
              </a:p>
              <a:p>
                <a:pPr marL="0" indent="0">
                  <a:buNone/>
                </a:pPr>
                <a:r>
                  <a:rPr lang="zh-TW" altLang="en-US" dirty="0" smtClean="0"/>
                  <a:t>在模擬中我做了無因次化操作，把常數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lang="zh-TW" altLang="en-US" dirty="0" smtClean="0"/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zh-TW" altLang="en-US" dirty="0" smtClean="0"/>
                  <a:t> 設為</a:t>
                </a:r>
                <a:r>
                  <a:rPr lang="en-US" altLang="zh-TW" dirty="0" smtClean="0"/>
                  <a:t>1</a:t>
                </a:r>
                <a:r>
                  <a:rPr lang="zh-TW" altLang="en-US" dirty="0" smtClean="0"/>
                  <a:t>，解下來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zh-TW" alt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2.269 </m:t>
                    </m:r>
                  </m:oMath>
                </a14:m>
                <a:r>
                  <a:rPr lang="zh-TW" altLang="en-US" dirty="0" smtClean="0"/>
                  <a:t>，這東西會在後面進行比對分析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567" t="-942" r="-5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圖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8939" y="4262008"/>
            <a:ext cx="2927275" cy="1117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62144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algorithm</a:t>
            </a:r>
            <a:r>
              <a:rPr lang="zh-TW" altLang="en-US" dirty="0" smtClean="0"/>
              <a:t>介紹</a:t>
            </a:r>
            <a:endParaRPr lang="zh-TW" altLang="en-US" dirty="0"/>
          </a:p>
        </p:txBody>
      </p:sp>
      <p:sp>
        <p:nvSpPr>
          <p:cNvPr id="5" name="副標題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08198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Monte </a:t>
            </a:r>
            <a:r>
              <a:rPr lang="en-US" altLang="zh-TW" dirty="0" smtClean="0"/>
              <a:t>Carlo</a:t>
            </a:r>
            <a:r>
              <a:rPr lang="zh-TW" altLang="en-US" dirty="0" smtClean="0"/>
              <a:t> </a:t>
            </a:r>
            <a:r>
              <a:rPr lang="en-US" altLang="zh-TW" dirty="0" smtClean="0"/>
              <a:t>Method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Monte </a:t>
            </a:r>
            <a:r>
              <a:rPr lang="en-US" altLang="zh-TW" dirty="0" smtClean="0"/>
              <a:t>Carlo method(</a:t>
            </a:r>
            <a:r>
              <a:rPr lang="zh-TW" altLang="en-US" dirty="0" smtClean="0"/>
              <a:t>中：蒙地卡羅法</a:t>
            </a:r>
            <a:r>
              <a:rPr lang="en-US" altLang="zh-TW" dirty="0" smtClean="0"/>
              <a:t>)</a:t>
            </a:r>
            <a:r>
              <a:rPr lang="zh-TW" altLang="en-US" dirty="0" smtClean="0"/>
              <a:t>是一個統計抽樣的演算法，範圍極度廣泛。</a:t>
            </a:r>
            <a:endParaRPr lang="en-US" altLang="zh-TW" dirty="0" smtClean="0"/>
          </a:p>
          <a:p>
            <a:r>
              <a:rPr lang="zh-TW" altLang="en-US" dirty="0"/>
              <a:t>常用於：</a:t>
            </a:r>
          </a:p>
          <a:p>
            <a:pPr lvl="1"/>
            <a:r>
              <a:rPr lang="en-US" altLang="zh-TW" dirty="0"/>
              <a:t>statistical physics </a:t>
            </a:r>
            <a:r>
              <a:rPr lang="en-US" altLang="zh-TW" dirty="0" smtClean="0"/>
              <a:t>(</a:t>
            </a:r>
            <a:r>
              <a:rPr lang="zh-TW" altLang="en-US" dirty="0" smtClean="0"/>
              <a:t>統計力學</a:t>
            </a:r>
            <a:r>
              <a:rPr lang="en-US" altLang="zh-TW" dirty="0" smtClean="0"/>
              <a:t>)</a:t>
            </a:r>
            <a:endParaRPr lang="en-US" altLang="zh-TW" dirty="0"/>
          </a:p>
          <a:p>
            <a:pPr lvl="1"/>
            <a:r>
              <a:rPr lang="en-US" altLang="zh-TW" dirty="0"/>
              <a:t>numerical integration </a:t>
            </a:r>
            <a:r>
              <a:rPr lang="en-US" altLang="zh-TW" dirty="0" smtClean="0"/>
              <a:t>(</a:t>
            </a:r>
            <a:r>
              <a:rPr lang="zh-TW" altLang="en-US" dirty="0" smtClean="0"/>
              <a:t>數值積分</a:t>
            </a:r>
            <a:r>
              <a:rPr lang="en-US" altLang="zh-TW" dirty="0" smtClean="0"/>
              <a:t>)</a:t>
            </a:r>
            <a:endParaRPr lang="en-US" altLang="zh-TW" dirty="0"/>
          </a:p>
          <a:p>
            <a:pPr lvl="1"/>
            <a:r>
              <a:rPr lang="en-US" altLang="zh-TW" dirty="0"/>
              <a:t>optimization </a:t>
            </a:r>
            <a:r>
              <a:rPr lang="en-US" altLang="zh-TW" dirty="0" smtClean="0"/>
              <a:t>(</a:t>
            </a:r>
            <a:r>
              <a:rPr lang="zh-TW" altLang="en-US" dirty="0" smtClean="0"/>
              <a:t>最佳化</a:t>
            </a:r>
            <a:r>
              <a:rPr lang="en-US" altLang="zh-TW" dirty="0" smtClean="0"/>
              <a:t>)</a:t>
            </a:r>
            <a:endParaRPr lang="en-US" altLang="zh-TW" dirty="0"/>
          </a:p>
          <a:p>
            <a:pPr lvl="1"/>
            <a:r>
              <a:rPr lang="en-US" altLang="zh-TW" dirty="0"/>
              <a:t>machine learning </a:t>
            </a:r>
            <a:r>
              <a:rPr lang="en-US" altLang="zh-TW" dirty="0" smtClean="0"/>
              <a:t>(</a:t>
            </a:r>
            <a:r>
              <a:rPr lang="zh-TW" altLang="en-US" dirty="0" smtClean="0"/>
              <a:t>機器學習</a:t>
            </a:r>
            <a:r>
              <a:rPr lang="en-US" altLang="zh-TW" dirty="0" smtClean="0"/>
              <a:t>)</a:t>
            </a:r>
            <a:endParaRPr lang="en-US" altLang="zh-TW" dirty="0"/>
          </a:p>
          <a:p>
            <a:r>
              <a:rPr lang="zh-TW" altLang="en-US" dirty="0" smtClean="0"/>
              <a:t>我利用 </a:t>
            </a:r>
            <a:r>
              <a:rPr lang="en-US" altLang="zh-TW" dirty="0"/>
              <a:t>Monte Carlo method </a:t>
            </a:r>
            <a:r>
              <a:rPr lang="zh-TW" altLang="en-US" dirty="0"/>
              <a:t>模擬 </a:t>
            </a:r>
            <a:r>
              <a:rPr lang="en-US" altLang="zh-TW" dirty="0" err="1"/>
              <a:t>Ising</a:t>
            </a:r>
            <a:r>
              <a:rPr lang="en-US" altLang="zh-TW" dirty="0"/>
              <a:t> model </a:t>
            </a:r>
            <a:r>
              <a:rPr lang="zh-TW" altLang="en-US" dirty="0"/>
              <a:t>在不同溫度下</a:t>
            </a:r>
            <a:r>
              <a:rPr lang="zh-TW" altLang="en-US" dirty="0" smtClean="0"/>
              <a:t>的自旋狀態。</a:t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247477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Metropolis algorithm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677334" y="2044284"/>
                <a:ext cx="8957173" cy="3880773"/>
              </a:xfrm>
            </p:spPr>
            <p:txBody>
              <a:bodyPr>
                <a:normAutofit fontScale="92500"/>
              </a:bodyPr>
              <a:lstStyle/>
              <a:p>
                <a:r>
                  <a:rPr lang="zh-TW" altLang="en-US" dirty="0" smtClean="0"/>
                  <a:t>蒙地卡羅法本身是一種龐大的概念，內部有許多完全不同的方法。我採用</a:t>
                </a:r>
                <a:endParaRPr lang="en-US" altLang="zh-TW" dirty="0" smtClean="0"/>
              </a:p>
              <a:p>
                <a:pPr marL="0" indent="0">
                  <a:buNone/>
                </a:pPr>
                <a:r>
                  <a:rPr lang="en-US" altLang="zh-TW" dirty="0" smtClean="0"/>
                  <a:t>Metropolis </a:t>
                </a:r>
                <a:r>
                  <a:rPr lang="en-US" altLang="zh-TW" dirty="0"/>
                  <a:t>algorithm (</a:t>
                </a:r>
                <a:r>
                  <a:rPr lang="zh-TW" altLang="en-US" dirty="0"/>
                  <a:t>中：梅特羅波利</a:t>
                </a:r>
                <a:r>
                  <a:rPr lang="zh-TW" altLang="en-US" dirty="0" smtClean="0"/>
                  <a:t>斯演算法</a:t>
                </a:r>
                <a:r>
                  <a:rPr lang="zh-TW" altLang="en-US" dirty="0"/>
                  <a:t>，要叫大都會演算法也不是不行</a:t>
                </a:r>
                <a:r>
                  <a:rPr lang="en-US" altLang="zh-TW" dirty="0" smtClean="0"/>
                  <a:t>)</a:t>
                </a:r>
                <a:endParaRPr lang="en-US" altLang="zh-TW" dirty="0"/>
              </a:p>
              <a:p>
                <a:r>
                  <a:rPr lang="zh-TW" altLang="en-US" dirty="0" smtClean="0"/>
                  <a:t>簡單解釋就是設定一個狀態，當符合</a:t>
                </a:r>
                <a:r>
                  <a:rPr lang="en-US" altLang="zh-TW" dirty="0" smtClean="0"/>
                  <a:t>A</a:t>
                </a:r>
                <a:r>
                  <a:rPr lang="zh-TW" altLang="en-US" dirty="0" smtClean="0"/>
                  <a:t>條件，則做</a:t>
                </a:r>
                <a:r>
                  <a:rPr lang="en-US" altLang="zh-TW" dirty="0"/>
                  <a:t>X</a:t>
                </a:r>
                <a:r>
                  <a:rPr lang="zh-TW" altLang="en-US" dirty="0" smtClean="0"/>
                  <a:t>操作，若不符合看是否符合</a:t>
                </a:r>
                <a:r>
                  <a:rPr lang="en-US" altLang="zh-TW" dirty="0" smtClean="0"/>
                  <a:t>B</a:t>
                </a:r>
                <a:r>
                  <a:rPr lang="zh-TW" altLang="en-US" dirty="0" smtClean="0"/>
                  <a:t>條件，有也做</a:t>
                </a:r>
                <a:r>
                  <a:rPr lang="en-US" altLang="zh-TW" dirty="0"/>
                  <a:t>X</a:t>
                </a:r>
                <a:r>
                  <a:rPr lang="zh-TW" altLang="en-US" dirty="0" smtClean="0"/>
                  <a:t>操作，否則就停在那。</a:t>
                </a:r>
                <a:endParaRPr lang="en-US" altLang="zh-TW" dirty="0" smtClean="0"/>
              </a:p>
              <a:p>
                <a:r>
                  <a:rPr lang="zh-TW" altLang="en-US" dirty="0" smtClean="0"/>
                  <a:t>我選定條件為當</a:t>
                </a:r>
                <a14:m>
                  <m:oMath xmlns:m="http://schemas.openxmlformats.org/officeDocument/2006/math">
                    <m:r>
                      <a:rPr lang="zh-TW" altLang="en-US" i="1" smtClean="0">
                        <a:latin typeface="Cambria Math" panose="02040503050406030204" pitchFamily="18" charset="0"/>
                      </a:rPr>
                      <m:t>∆</m:t>
                    </m:r>
                    <m:r>
                      <m:rPr>
                        <m:sty m:val="p"/>
                      </m:rPr>
                      <a:rPr lang="en-US" altLang="zh-TW" i="1">
                        <a:latin typeface="Cambria Math" panose="02040503050406030204" pitchFamily="18" charset="0"/>
                      </a:rPr>
                      <m:t>E</m:t>
                    </m:r>
                    <m:r>
                      <a:rPr lang="zh-TW" altLang="en-US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zh-TW" dirty="0" smtClean="0"/>
                  <a:t>(</a:t>
                </a:r>
                <a:r>
                  <a:rPr lang="zh-TW" altLang="en-US" dirty="0" smtClean="0"/>
                  <a:t>自旋是否翻轉</a:t>
                </a:r>
                <a:r>
                  <a:rPr lang="en-US" altLang="zh-TW" dirty="0" smtClean="0"/>
                  <a:t>)</a:t>
                </a:r>
                <a:r>
                  <a:rPr lang="zh-TW" altLang="en-US" dirty="0" smtClean="0"/>
                  <a:t>，代表系統能量下降，所以將其採納進總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i="1" dirty="0">
                        <a:latin typeface="Cambria Math" panose="02040503050406030204" pitchFamily="18" charset="0"/>
                      </a:rPr>
                      <m:t>E</m:t>
                    </m:r>
                  </m:oMath>
                </a14:m>
                <a:r>
                  <a:rPr lang="zh-TW" altLang="en-US" dirty="0" smtClean="0"/>
                  <a:t>，若</a:t>
                </a:r>
                <a14:m>
                  <m:oMath xmlns:m="http://schemas.openxmlformats.org/officeDocument/2006/math">
                    <m:r>
                      <a:rPr lang="zh-TW" altLang="en-US" i="1">
                        <a:latin typeface="Cambria Math" panose="02040503050406030204" pitchFamily="18" charset="0"/>
                      </a:rPr>
                      <m:t>∆</m:t>
                    </m:r>
                    <m:r>
                      <m:rPr>
                        <m:sty m:val="p"/>
                      </m:rPr>
                      <a:rPr lang="en-US" altLang="zh-TW" i="1">
                        <a:latin typeface="Cambria Math" panose="02040503050406030204" pitchFamily="18" charset="0"/>
                      </a:rPr>
                      <m:t>E</m:t>
                    </m:r>
                    <m:r>
                      <a:rPr lang="zh-TW" altLang="en-US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zh-TW" dirty="0" smtClean="0"/>
                  <a:t>(</a:t>
                </a:r>
                <a:r>
                  <a:rPr lang="zh-TW" altLang="en-US" dirty="0" smtClean="0"/>
                  <a:t>能量增加</a:t>
                </a:r>
                <a:r>
                  <a:rPr lang="en-US" altLang="zh-TW" dirty="0" smtClean="0"/>
                  <a:t>)</a:t>
                </a:r>
                <a:r>
                  <a:rPr lang="zh-TW" altLang="en-US" dirty="0" smtClean="0"/>
                  <a:t>，若他符合機率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TW" altLang="zh-TW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−∆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𝑘𝑇</m:t>
                        </m:r>
                      </m:sup>
                    </m:sSup>
                  </m:oMath>
                </a14:m>
                <a:r>
                  <a:rPr lang="zh-TW" altLang="en-US" dirty="0" smtClean="0"/>
                  <a:t>，則也採納進總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i="1" dirty="0">
                        <a:latin typeface="Cambria Math" panose="02040503050406030204" pitchFamily="18" charset="0"/>
                      </a:rPr>
                      <m:t>E</m:t>
                    </m:r>
                  </m:oMath>
                </a14:m>
                <a:r>
                  <a:rPr lang="zh-TW" altLang="en-US" dirty="0" smtClean="0"/>
                  <a:t>，若沒有就丟掉</a:t>
                </a:r>
                <a:endParaRPr lang="en-US" altLang="zh-TW" dirty="0" smtClean="0"/>
              </a:p>
              <a:p>
                <a:pPr marL="0" indent="0">
                  <a:buNone/>
                </a:pPr>
                <a:r>
                  <a:rPr lang="zh-TW" altLang="en-US" dirty="0" smtClean="0"/>
                  <a:t>  </a:t>
                </a:r>
                <a:endParaRPr lang="en-US" altLang="zh-TW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7334" y="2044284"/>
                <a:ext cx="8957173" cy="3880773"/>
              </a:xfrm>
              <a:blipFill rotWithShape="0">
                <a:blip r:embed="rId2"/>
                <a:stretch>
                  <a:fillRect l="-408" t="-47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665385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關於系統本身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由於系統會在自然狀態下優先尋得最穩定解，我如果鎖死演算法使其強制最低，會失去分析意義，所以我採用</a:t>
            </a:r>
            <a:r>
              <a:rPr lang="en-US" altLang="zh-TW" dirty="0"/>
              <a:t>Metropolis algorithm </a:t>
            </a:r>
            <a:r>
              <a:rPr lang="zh-TW" altLang="en-US" dirty="0" smtClean="0"/>
              <a:t>，基於他的初始隨機性以及判斷是否進行跳躍採點，提供較混亂的情況，觀察其是否會尋找最穩定解</a:t>
            </a:r>
            <a:r>
              <a:rPr lang="en-US" altLang="zh-TW" dirty="0" smtClean="0"/>
              <a:t>(</a:t>
            </a:r>
            <a:r>
              <a:rPr lang="zh-TW" altLang="en-US" dirty="0"/>
              <a:t>即</a:t>
            </a:r>
            <a:r>
              <a:rPr lang="zh-TW" altLang="en-US" dirty="0" smtClean="0"/>
              <a:t>一開始低溫狀態下之磁化率是否接近</a:t>
            </a:r>
            <a:r>
              <a:rPr lang="en-US" altLang="zh-TW" dirty="0"/>
              <a:t>1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560681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運行邏輯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由於蒙地卡羅</a:t>
            </a:r>
            <a:r>
              <a:rPr lang="zh-TW" altLang="en-US" dirty="0"/>
              <a:t>法</a:t>
            </a:r>
            <a:r>
              <a:rPr lang="zh-TW" altLang="en-US" dirty="0" smtClean="0"/>
              <a:t>具有隨機特性，即使</a:t>
            </a:r>
            <a:r>
              <a:rPr lang="zh-TW" altLang="en-US" dirty="0"/>
              <a:t>在相同溫度下</a:t>
            </a:r>
            <a:r>
              <a:rPr lang="zh-TW" altLang="en-US" dirty="0" smtClean="0"/>
              <a:t>，由於初</a:t>
            </a:r>
            <a:r>
              <a:rPr lang="zh-TW" altLang="en-US" dirty="0"/>
              <a:t>始狀態與隨機抽樣</a:t>
            </a:r>
            <a:r>
              <a:rPr lang="zh-TW" altLang="en-US" dirty="0" smtClean="0"/>
              <a:t>不同，每次</a:t>
            </a:r>
            <a:r>
              <a:rPr lang="zh-TW" altLang="en-US" dirty="0"/>
              <a:t>模擬的自旋</a:t>
            </a:r>
            <a:r>
              <a:rPr lang="zh-TW" altLang="en-US" dirty="0" smtClean="0"/>
              <a:t>排列可能</a:t>
            </a:r>
            <a:r>
              <a:rPr lang="zh-TW" altLang="en-US" dirty="0"/>
              <a:t>不同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pPr marL="0" indent="0">
              <a:buNone/>
            </a:pPr>
            <a:r>
              <a:rPr lang="zh-TW" altLang="en-US" dirty="0"/>
              <a:t>只</a:t>
            </a:r>
            <a:r>
              <a:rPr lang="zh-TW" altLang="en-US" dirty="0" smtClean="0"/>
              <a:t>運行</a:t>
            </a:r>
            <a:r>
              <a:rPr lang="zh-TW" altLang="en-US" dirty="0"/>
              <a:t>一</a:t>
            </a:r>
            <a:r>
              <a:rPr lang="zh-TW" altLang="en-US" dirty="0" smtClean="0"/>
              <a:t>次是長這鬼樣子的，不是不能用，但不好看，而且每次都不一定相同。</a:t>
            </a:r>
            <a:endParaRPr lang="en-US" altLang="zh-TW" dirty="0" smtClean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zh-TW" altLang="en-US" dirty="0"/>
              <a:t>所以我在同一溫度下重複運行</a:t>
            </a:r>
            <a:r>
              <a:rPr lang="en-US" altLang="zh-TW" dirty="0"/>
              <a:t>100</a:t>
            </a:r>
            <a:r>
              <a:rPr lang="zh-TW" altLang="en-US" dirty="0"/>
              <a:t>次，並取磁化程度平均</a:t>
            </a:r>
            <a:r>
              <a:rPr lang="zh-TW" altLang="en-US" dirty="0" smtClean="0"/>
              <a:t>，</a:t>
            </a:r>
            <a:endParaRPr lang="en-US" altLang="zh-TW" dirty="0" smtClean="0"/>
          </a:p>
          <a:p>
            <a:pPr marL="0" indent="0">
              <a:buNone/>
            </a:pPr>
            <a:r>
              <a:rPr lang="zh-TW" altLang="en-US" dirty="0" smtClean="0"/>
              <a:t>用以</a:t>
            </a:r>
            <a:r>
              <a:rPr lang="zh-TW" altLang="en-US" dirty="0"/>
              <a:t>降低因為隨機對結果的</a:t>
            </a:r>
            <a:r>
              <a:rPr lang="zh-TW" altLang="en-US" dirty="0" smtClean="0"/>
              <a:t>影響</a:t>
            </a:r>
            <a:r>
              <a:rPr lang="en-US" altLang="zh-TW" dirty="0" smtClean="0"/>
              <a:t>(</a:t>
            </a:r>
            <a:r>
              <a:rPr lang="zh-TW" altLang="en-US" dirty="0" smtClean="0"/>
              <a:t>原本想跑</a:t>
            </a:r>
            <a:r>
              <a:rPr lang="en-US" altLang="zh-TW" dirty="0" smtClean="0"/>
              <a:t>1000</a:t>
            </a:r>
            <a:r>
              <a:rPr lang="zh-TW" altLang="en-US" dirty="0" smtClean="0"/>
              <a:t>次，炸了</a:t>
            </a:r>
            <a:r>
              <a:rPr lang="en-US" altLang="zh-TW" dirty="0" smtClean="0"/>
              <a:t>)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zh-TW" altLang="en-US" sz="1200" dirty="0" smtClean="0"/>
              <a:t>註：</a:t>
            </a:r>
            <a:r>
              <a:rPr lang="en-US" altLang="zh-TW" sz="1200" dirty="0" smtClean="0"/>
              <a:t>CPU</a:t>
            </a:r>
            <a:r>
              <a:rPr lang="zh-TW" altLang="en-US" sz="1200" dirty="0"/>
              <a:t>：</a:t>
            </a:r>
            <a:r>
              <a:rPr lang="pt-BR" altLang="zh-TW" sz="1200" dirty="0"/>
              <a:t>Intel(R) Xeon(R) CPU E5-2698 v4 @ </a:t>
            </a:r>
            <a:r>
              <a:rPr lang="pt-BR" altLang="zh-TW" sz="1200" dirty="0" smtClean="0"/>
              <a:t>2.20GHz</a:t>
            </a:r>
            <a:r>
              <a:rPr lang="zh-TW" altLang="en-US" sz="1200" dirty="0" smtClean="0"/>
              <a:t>，</a:t>
            </a:r>
            <a:endParaRPr lang="en-US" altLang="zh-TW" sz="1200" dirty="0" smtClean="0"/>
          </a:p>
          <a:p>
            <a:pPr marL="0" indent="0">
              <a:buNone/>
            </a:pPr>
            <a:r>
              <a:rPr lang="zh-TW" altLang="en-US" sz="1200" dirty="0" smtClean="0"/>
              <a:t>在</a:t>
            </a:r>
            <a:r>
              <a:rPr lang="en-US" altLang="zh-TW" sz="1200" dirty="0"/>
              <a:t>20</a:t>
            </a:r>
            <a:r>
              <a:rPr lang="zh-TW" altLang="en-US" sz="1200" dirty="0"/>
              <a:t>*</a:t>
            </a:r>
            <a:r>
              <a:rPr lang="en-US" altLang="zh-TW" sz="1200" dirty="0"/>
              <a:t>20</a:t>
            </a:r>
            <a:r>
              <a:rPr lang="zh-TW" altLang="en-US" sz="1200" dirty="0"/>
              <a:t>的尺寸下運行</a:t>
            </a:r>
            <a:r>
              <a:rPr lang="en-US" altLang="zh-TW" sz="1200" dirty="0"/>
              <a:t>100</a:t>
            </a:r>
            <a:r>
              <a:rPr lang="zh-TW" altLang="en-US" sz="1200" dirty="0"/>
              <a:t>次需時</a:t>
            </a:r>
            <a:r>
              <a:rPr lang="en-US" altLang="zh-TW" sz="1200" dirty="0" smtClean="0"/>
              <a:t>1161</a:t>
            </a:r>
            <a:r>
              <a:rPr lang="zh-TW" altLang="en-US" sz="1200" dirty="0" smtClean="0"/>
              <a:t>秒</a:t>
            </a:r>
            <a:endParaRPr lang="zh-TW" altLang="en-US" sz="1200" dirty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endParaRPr lang="en-US" altLang="zh-TW" dirty="0"/>
          </a:p>
          <a:p>
            <a:endParaRPr lang="en-US" altLang="zh-TW" dirty="0" smtClean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5147" y="3160509"/>
            <a:ext cx="5184658" cy="3950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4186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多核心平行運算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由於</a:t>
            </a:r>
            <a:r>
              <a:rPr lang="en-US" altLang="zh-TW" dirty="0" smtClean="0"/>
              <a:t>python</a:t>
            </a:r>
            <a:r>
              <a:rPr lang="zh-TW" altLang="en-US" dirty="0" smtClean="0"/>
              <a:t>執行時只用單核心，我利用內建套件把計算需求分配到</a:t>
            </a:r>
            <a:r>
              <a:rPr lang="en-US" altLang="zh-TW" dirty="0" smtClean="0"/>
              <a:t>CPU</a:t>
            </a:r>
            <a:r>
              <a:rPr lang="zh-TW" altLang="en-US" dirty="0" smtClean="0"/>
              <a:t>不同核心，使其能夠同時運行，大幅增加了運算速度</a:t>
            </a:r>
            <a:r>
              <a:rPr lang="en-US" altLang="zh-TW" dirty="0" smtClean="0"/>
              <a:t>(</a:t>
            </a:r>
            <a:r>
              <a:rPr lang="zh-TW" altLang="en-US" dirty="0" smtClean="0"/>
              <a:t>不過也是特別久</a:t>
            </a:r>
            <a:r>
              <a:rPr lang="en-US" altLang="zh-TW" dirty="0" smtClean="0"/>
              <a:t>)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r>
              <a:rPr lang="zh-TW" altLang="en-US" dirty="0" smtClean="0"/>
              <a:t>原本有考慮開</a:t>
            </a:r>
            <a:r>
              <a:rPr lang="en-US" altLang="zh-TW" dirty="0" smtClean="0"/>
              <a:t>CUDA</a:t>
            </a:r>
            <a:r>
              <a:rPr lang="zh-TW" altLang="en-US" dirty="0" smtClean="0"/>
              <a:t>丟入顯卡運算，畢竟這玩意有上千個核心，但這樣需要重寫整個程式</a:t>
            </a:r>
            <a:r>
              <a:rPr lang="en-US" altLang="zh-TW" dirty="0" smtClean="0"/>
              <a:t>(</a:t>
            </a:r>
            <a:r>
              <a:rPr lang="zh-TW" altLang="en-US" dirty="0" smtClean="0"/>
              <a:t>包括發配、搬移資料</a:t>
            </a:r>
            <a:r>
              <a:rPr lang="en-US" altLang="zh-TW" dirty="0" smtClean="0"/>
              <a:t>)</a:t>
            </a:r>
            <a:r>
              <a:rPr lang="zh-TW" altLang="en-US" dirty="0" smtClean="0"/>
              <a:t>，並且大量的</a:t>
            </a:r>
            <a:r>
              <a:rPr lang="en-US" altLang="zh-TW" dirty="0" smtClean="0"/>
              <a:t>for</a:t>
            </a:r>
            <a:r>
              <a:rPr lang="zh-TW" altLang="en-US" dirty="0" smtClean="0"/>
              <a:t>和</a:t>
            </a:r>
            <a:r>
              <a:rPr lang="en-US" altLang="zh-TW" dirty="0" smtClean="0"/>
              <a:t>if</a:t>
            </a:r>
            <a:r>
              <a:rPr lang="zh-TW" altLang="en-US" dirty="0" smtClean="0"/>
              <a:t>對</a:t>
            </a:r>
            <a:r>
              <a:rPr lang="en-US" altLang="zh-TW" dirty="0" smtClean="0"/>
              <a:t>GPU</a:t>
            </a:r>
            <a:r>
              <a:rPr lang="zh-TW" altLang="en-US" dirty="0" smtClean="0"/>
              <a:t>不太友善，效率不一定更高</a:t>
            </a:r>
            <a:r>
              <a:rPr lang="zh-TW" altLang="en-US" dirty="0" smtClean="0"/>
              <a:t>，所以</a:t>
            </a:r>
            <a:r>
              <a:rPr lang="zh-TW" altLang="en-US" dirty="0" smtClean="0"/>
              <a:t>將其丟入僅</a:t>
            </a:r>
            <a:r>
              <a:rPr lang="en-US" altLang="zh-TW" dirty="0" smtClean="0"/>
              <a:t>32</a:t>
            </a:r>
            <a:r>
              <a:rPr lang="zh-TW" altLang="en-US" dirty="0" smtClean="0"/>
              <a:t>核的</a:t>
            </a:r>
            <a:r>
              <a:rPr lang="en-US" altLang="zh-TW" dirty="0" smtClean="0"/>
              <a:t>CPU</a:t>
            </a:r>
          </a:p>
          <a:p>
            <a:endParaRPr lang="en-US" altLang="zh-TW" dirty="0"/>
          </a:p>
          <a:p>
            <a:endParaRPr lang="en-US" altLang="zh-TW" dirty="0" smtClean="0"/>
          </a:p>
          <a:p>
            <a:pPr marL="0" indent="0">
              <a:buNone/>
            </a:pPr>
            <a:r>
              <a:rPr lang="zh-TW" altLang="en-US" sz="1200" dirty="0"/>
              <a:t>註：</a:t>
            </a:r>
            <a:r>
              <a:rPr lang="en-US" altLang="zh-TW" sz="1200" dirty="0"/>
              <a:t>CPU</a:t>
            </a:r>
            <a:r>
              <a:rPr lang="zh-TW" altLang="en-US" sz="1200" dirty="0"/>
              <a:t>：</a:t>
            </a:r>
            <a:r>
              <a:rPr lang="pt-BR" altLang="zh-TW" sz="1200" dirty="0"/>
              <a:t>Intel(R) Xeon(R) CPU E5-2698 v4 @ 2.20GHz</a:t>
            </a:r>
            <a:r>
              <a:rPr lang="zh-TW" altLang="en-US" sz="1200" dirty="0" smtClean="0"/>
              <a:t>，經過平行運算處理後</a:t>
            </a:r>
            <a:endParaRPr lang="en-US" altLang="zh-TW" sz="1200" dirty="0"/>
          </a:p>
          <a:p>
            <a:pPr marL="0" indent="0">
              <a:buNone/>
            </a:pPr>
            <a:r>
              <a:rPr lang="zh-TW" altLang="en-US" sz="1200" dirty="0"/>
              <a:t>在</a:t>
            </a:r>
            <a:r>
              <a:rPr lang="en-US" altLang="zh-TW" sz="1200" dirty="0"/>
              <a:t>20</a:t>
            </a:r>
            <a:r>
              <a:rPr lang="zh-TW" altLang="en-US" sz="1200" dirty="0"/>
              <a:t>*</a:t>
            </a:r>
            <a:r>
              <a:rPr lang="en-US" altLang="zh-TW" sz="1200" dirty="0"/>
              <a:t>20</a:t>
            </a:r>
            <a:r>
              <a:rPr lang="zh-TW" altLang="en-US" sz="1200" dirty="0"/>
              <a:t>的尺寸下運行</a:t>
            </a:r>
            <a:r>
              <a:rPr lang="en-US" altLang="zh-TW" sz="1200" dirty="0"/>
              <a:t>100</a:t>
            </a:r>
            <a:r>
              <a:rPr lang="zh-TW" altLang="en-US" sz="1200" dirty="0" smtClean="0"/>
              <a:t>次僅需</a:t>
            </a:r>
            <a:r>
              <a:rPr lang="zh-TW" altLang="en-US" sz="1200" dirty="0"/>
              <a:t>要</a:t>
            </a:r>
            <a:r>
              <a:rPr lang="en-US" altLang="zh-TW" sz="1200" dirty="0" smtClean="0"/>
              <a:t>192</a:t>
            </a:r>
            <a:r>
              <a:rPr lang="zh-TW" altLang="en-US" sz="1200" dirty="0" smtClean="0"/>
              <a:t>秒</a:t>
            </a:r>
            <a:endParaRPr lang="zh-TW" altLang="en-US" sz="1200" dirty="0"/>
          </a:p>
          <a:p>
            <a:endParaRPr lang="en-US" altLang="zh-TW" dirty="0" smtClean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9211" y="1539258"/>
            <a:ext cx="4467849" cy="466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7321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 smtClean="0"/>
              <a:t>分析結果與討論</a:t>
            </a:r>
            <a:endParaRPr lang="zh-TW" altLang="en-US" dirty="0"/>
          </a:p>
        </p:txBody>
      </p:sp>
      <p:sp>
        <p:nvSpPr>
          <p:cNvPr id="5" name="副標題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056391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不同尺寸下</a:t>
            </a:r>
            <a:r>
              <a:rPr lang="zh-TW" altLang="en-US" dirty="0"/>
              <a:t>的 </a:t>
            </a:r>
            <a:r>
              <a:rPr lang="en-US" altLang="zh-TW" dirty="0"/>
              <a:t>M vs </a:t>
            </a:r>
            <a:r>
              <a:rPr lang="en-US" altLang="zh-TW" dirty="0" smtClean="0"/>
              <a:t>T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TW" altLang="en-US" dirty="0" smtClean="0"/>
                  <a:t>細節上是基於不同尺寸的地圖，判斷磁化率變化最劇烈</a:t>
                </a:r>
                <a:r>
                  <a:rPr lang="en-US" altLang="zh-TW" dirty="0" smtClean="0"/>
                  <a:t>(</a:t>
                </a:r>
                <a:r>
                  <a:rPr lang="zh-TW" altLang="en-US" dirty="0" smtClean="0"/>
                  <a:t>變化</a:t>
                </a:r>
                <a:r>
                  <a:rPr lang="zh-TW" altLang="en-US" dirty="0"/>
                  <a:t>最明顯的位置</a:t>
                </a:r>
                <a:r>
                  <a:rPr lang="en-US" altLang="zh-TW" dirty="0" smtClean="0"/>
                  <a:t>)</a:t>
                </a:r>
                <a:r>
                  <a:rPr lang="zh-TW" altLang="en-US" dirty="0" smtClean="0"/>
                  <a:t>的情況之溫度，與理論溫度的區別。</a:t>
                </a:r>
                <a:endParaRPr lang="en-US" altLang="zh-TW" dirty="0" smtClean="0"/>
              </a:p>
              <a:p>
                <a:r>
                  <a:rPr lang="zh-TW" altLang="en-US" dirty="0" smtClean="0"/>
                  <a:t>由於理論</a:t>
                </a:r>
                <a:r>
                  <a:rPr lang="zh-TW" altLang="en-US" dirty="0" smtClean="0"/>
                  <a:t>溫度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zh-TW" alt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2.269</m:t>
                    </m:r>
                  </m:oMath>
                </a14:m>
                <a:r>
                  <a:rPr lang="zh-TW" altLang="en-US" dirty="0" smtClean="0"/>
                  <a:t>是</a:t>
                </a:r>
                <a:r>
                  <a:rPr lang="zh-TW" altLang="en-US" dirty="0" smtClean="0"/>
                  <a:t>基於無限地圖之</a:t>
                </a:r>
                <a:r>
                  <a:rPr lang="zh-TW" altLang="en-US" dirty="0" smtClean="0"/>
                  <a:t>理想解析</a:t>
                </a:r>
                <a:r>
                  <a:rPr lang="zh-TW" altLang="en-US" dirty="0"/>
                  <a:t>解</a:t>
                </a:r>
                <a:r>
                  <a:rPr lang="zh-TW" altLang="en-US" dirty="0" smtClean="0"/>
                  <a:t>，而真實模擬只能跑有限尺寸，藉</a:t>
                </a:r>
                <a:r>
                  <a:rPr lang="zh-TW" altLang="en-US" dirty="0" smtClean="0"/>
                  <a:t>此尋找最接近臨界溫度的有限地圖狀態</a:t>
                </a:r>
                <a:endParaRPr lang="en-US" altLang="zh-TW" sz="1000" dirty="0" smtClean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42" t="-94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18189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10</a:t>
            </a:r>
            <a:r>
              <a:rPr lang="zh-TW" altLang="en-US" dirty="0" smtClean="0"/>
              <a:t>*</a:t>
            </a:r>
            <a:r>
              <a:rPr lang="en-US" altLang="zh-TW" dirty="0" smtClean="0"/>
              <a:t>10</a:t>
            </a:r>
            <a:r>
              <a:rPr lang="zh-TW" altLang="en-US" dirty="0" smtClean="0"/>
              <a:t>測試</a:t>
            </a:r>
            <a:endParaRPr lang="zh-TW" altLang="en-US" dirty="0"/>
          </a:p>
        </p:txBody>
      </p:sp>
      <p:pic>
        <p:nvPicPr>
          <p:cNvPr id="10" name="內容版面配置區 9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8436" y="2069224"/>
            <a:ext cx="5094385" cy="3881437"/>
          </a:xfrm>
        </p:spPr>
      </p:pic>
      <p:sp>
        <p:nvSpPr>
          <p:cNvPr id="9" name="AutoShape 4" descr="data:image/png;base64,iVBORw0KGgoAAAANSUhEUgAAAjcAAAGwCAYAAABVdURTAAAAOXRFWHRTb2Z0d2FyZQBNYXRwbG90bGliIHZlcnNpb24zLjkuMSwgaHR0cHM6Ly9tYXRwbG90bGliLm9yZy/TGe4hAAAACXBIWXMAAA9hAAAPYQGoP6dpAACCeklEQVR4nO3dd3iT5frA8W+S7kkLdACFlillbwvKRqpYweNAHAwRD4iKIkfFoxQcIIgMjwiIP8GNqDjZVNkgswgUipRCEVoKFLpn8v7+SBoautImaTruz3U9F2/fvONOSJO7z1QpiqIghBBCCFFLqO0dgBBCCCGENUlyI4QQQohaRZIbIYQQQtQqktwIIYQQolaR5EYIIYQQtYokN0IIIYSoVSS5EUIIIUSt4mDvAOxBp9Nx6dIlPD09UalU9g5HCCGEEGZQFIX09HQaNWqEWl16/UydTG4uXbpEUFCQvcMQQgghRCVcuHCBJk2alPp4nUxuPD09Af2L4+XlZedohBBmy8yERo3025cugbu7feMRQlSptLQ0goKCjN/jpamTyU1hU5SXl5ckN0LUJBrNzW0vL0luhKijyutSUieTGyGEFeUBiw3bUwAnO8YihBBIciOEsFQ+8LJh+xkkuRFC2J0kN0IIyzgAY4ps2/ReDjBmzM1tIYQogXw6CCEs4wysqqp7OcOqqrpZxel0OvLy8uwdhhA1lqOjI5qifesqSZIbIYSwgry8POLj49HpdPYORYgarV69egQEBFg0D50kN0KImkNRICtLv+3mBtVkEk5FUUhMTESj0RAUFFTm5GJCiJIpikJWVhbJyckABAYGVvpaktwIISyTCTQ2bF8EbDk6OysLPDz02xkZ1WYoeEFBAVlZWTRq1Ag3Nzd7hyNEjeXq6gpAcnIyfn5+lW6ikuRGCGG5VHsHYF9arRYAJycZKiaEpQr/QMjPz5fkRghhJ67A6SLbdZisVSeE5azxeyTJjZVodQr741NITs/Bz9OFniG+aNTm/wdZcr6l9xbCImqglb2DEEKIm+ye3OzYsYP33nuPQ4cOkZiYyI8//siIESPKPGfbtm1MnTqVEydOEBQUxOuvv87YsWOrJN6SbDyeyKxfY0hMzTHuC/R2ITIilPD25XeIsuR8S+8thBBC1DZ279KfmZlJp06dWLJkiVnHx8fHM2zYMAYMGEB0dDQvvPACTz31FJs2bbJxpCXbeDyRSV8eNkkuAJJSc5j05WE2Hk+02fmW3ruQVqewN+4aP0dfZG/cNbQ6xazzhAD0MxQvMZR8O8dSw1XH30WVSsVPP/1k8/sEBwezaNGianMdUbPZvebm7rvv5u677zb7+GXLlhESEsL7778PQNu2bdm1axcLFy5k6NChtgqzRFqdwqxfYyjp40cBVMDMX07Qp2UDnBzUOKjVqFU32xPNOX/WrzEMCQ0o1sxkyblFSc2PsFge8KxheyzgaL9QajJ7/S5euXKFGTNmsG7dOi5fvoyPjw+dOnVixowZ9OnTh8TERHx8fGx2/8patWoVL7zwAjdu3DDZf+DAAdyrySg6YT92T24qau/evQwePNhk39ChQ3nhhRdKPSc3N5fc3Fzjz2lpaVaJZX98SrFak6IUICktlw4zN5vsd1Cr0KhVqICcgtIn/FKAxNQcBi/Yjrero/E8B42K9JyCcu+dmJrDjtNXGHCbX4nHFNb83JogFdb8LH28q1kfqtLnp47TAA8W2bbpvTTw4IM3t2sJa/0uVsYDDzxAXl4en332Gc2bN+fy5ctERUVx7do1AAICAmxyX1tp2LChvUMQ1YDdm6UqKikpCX9/f5N9/v7+pKWlkZ2dXeI5c+bMwdvb21iCgoKsEktyeunJRVkKdAq5BboyE5ui4q9mEn3hBgfPX+fP+BR2n7nGX/+YN/Z23KoDdJq1mbsX7+Spzw4S+fNxlm+P4+cjF/nvj8dLrfkBfc1PedXiG48ncsfc3xm1Yh9TVkczasU+7pj7u9lNYqIWcAG+MxQXW9/LBb77Tl9cbH2zylMUhay8ArNKek4+kb+cKPN3ceYvMaTn5Jt1PUUxvynrxo0b7Ny5k7lz5zJgwACaNWtGz549mT59Ovfddx9g2ix17tw5VCoVa9as4c4778TV1ZUePXpw+vRpDhw4QPfu3fHw8ODuu+/mypUrxvv079+/2B+gI0aMKLOv5IIFC+jQoQPu7u4EBQXxzDPPkJGRAej7XY4bN47U1FRUKhUqlYqZM2cCxZulEhISGD58OB4eHnh5efHwww9z+fJl4+MzZ86kc+fOfPHFFwQHB+Pt7c0jjzxCenq62a+jqH5qXM1NZUyfPp2pU6caf05LS7NKguPnad6H66pxPejazAetVqFAp6DVKRTodBw6d50p30aXe/4rQ9vQ0t8TrU5nPD82KZ2PtsWZdf/U7HxSs/M5mWh+jVVhzc/X+xO4K9SfBh7OxWpjrPHXptT6iNooO19L6Azr9APU1wDnFKsBLk3Mm0NxczLvo93DwwMPDw9++uknbr/9dpydnc06LzIykkWLFtG0aVOefPJJHn30UTw9PVm8eDFubm48/PDDzJgxg6VLl5p1vZKo1Wo++OADQkJCOHv2LM888wwvv/wyH330Eb1792bRokXMmDGD2NhY43O5lU6nMyY227dvp6CggMmTJzNy5Ei2bdtmPC4uLo6ffvqJ3377jevXr/Pwww/z7rvv8s4771Q6fmFfNS65CQgIMMm6AS5fvoyXl5dxZsNbOTs7m/1LWxE9Q3wJ9HYhKTWnxL+6VECAtwt3tmpY4hd2oLcr7248Ve75T/drUWKfmx+PXCz33A1T7iQ5PZeLN7K5eD2bSzf05a9/Ujl7NbPc5/jGT8d546fjaNQq/DydCfB2IcDLBT8vZ9YevmhRnx/p7yOEfTk4OLBq1SomTJjAsmXL6Nq1K/369eORRx6hY8eOpZ43bdo0Yx/HKVOmMGrUKKKioujTpw8A48ePZ5WFC5wWrekJDg7m7bffZuLEiXz00Uc4OTnh7e2NSqUqs9ksKiqKY8eOER8fb/yD9vPPP6ddu3YcOHCAHj16APokaNWqVXh6egLwxBNPEBUVJclNDVbjkpuwsDDWr19vsm/Lli2EhYVVeSwatYrIiFAmfXkYFZh80Rd+nUdGhJb65W7J+eaeW8/NiXpuTrT29zQ5f2/cNUat2Ffuc/R1dyQ1uwCtTiExNafMfj5FFdb8LN12hqHtAgjydcPF8WYfCXv2MRBWlsXNeW7+Bmy5+kBmZrVcfuFWro4aYt40b4DD/vgUxq48UO5xq8b1oGeIr1n3rogHHniAYcOGsXPnTvbt28eGDRuYN28en3zySanNRkUTn8JuAh06dDDZV7g+UGVt3bqVOXPmcOrUKdLS0igoKCAnJ4esrCyzl7g4efIkQUFBJjX1oaGh1KtXj5MnTxqTm+DgYGNiA/o1jSyNX9iX3ZObjIwMzpw5Y/w5Pj6e6OhofH19adq0KdOnT+fixYt8/vnnAEycOJEPP/yQl19+mSeffJLff/+dNWvWsG7dOrvEH94+kKWPdy1WAxFgZg2EJedbcq65tU67XhkIwNWMXBJTc0hKzSYpNYedZ64SdbL8X/75m08zf/NpVCoI8HKhWX03mvq6seFYksUjvUQ1oQCXimwLVCqV2U1Dd7ZqaFENsDW4uLgwZMgQhgwZwhtvvMFTTz1FZGRkqcmNo+PNIXGFoz9v3Vd0dXS1Wl2sL1B+funzBpw7d457772XSZMm8c477+Dr68uuXbsYP348eXl5Vl+/q2jsJcUvah67JzcHDx5kwIABxp8L+8aMGTOGVatWkZiYSEJCgvHxkJAQ1q1bx4svvsjixYtp0qQJn3zySZUPAy8qvH0gQ0IDKt13xJLzK3tuRWuN/L1c8PdygaB6ALQJ8DIruQmu78bVjDwycguMNT/7zqaUeU5hrc/++BTCWtQv9x7CzlyAI0W2RYVYWgNsC6GhoVad26Zhw4YkJt4cZKDVajl+/LjJZ39Rhw4dQqfT8f777xtXWF+zZo3JMU5OTsY1vUrTtm1bLly4wIULF4y1NzExMdy4cYPQ0FBLnpKo5uye3PTv37/M3v0ltdv279+fI0eOFD/YjjRqlUVfxJacX9lzq6LmJ+ql/qhVkJKZx7lrWSSkZLLp+GU2nkgqN77tp5Pp1swHJ4fSB/VJh+RqQAN0tncQNZulNcCVde3aNR566CGefPJJOnbsiKenJwcPHmTevHkMHz7cavcZOHAgU6dOZd26dbRo0YIFCxYUm5+mqJYtW5Kfn8///vc/IiIi2L17N8uWLTM5Jjg4mIyMDKKioujUqRNubm7FanQGDx5Mhw4deOyxx1i0aBEFBQU888wz9OvXj+7du1vt+Ynqx+7JjbCvqqr5qe/hTH0PZ7o18yHAy9Ws5GbZ9rN89WcCA2/zI7xdAP3aNDSp6re0Q7IkRqI6sbQGuDI8PDzo1asXCxcuJC4ujvz8fIKCgpgwYQKvvfaa1e7z5JNPcvToUUaPHo2DgwMvvvhiqbU2AJ06dWLBggXMnTuX6dOn07dvX+bMmcPo0aONx/Tu3ZuJEycycuRIrl27RmRkpHE4eCGVSsXPP//Mc889R9++fVGr1YSHh/O///3Pas9NVE8qpSKTItQSaWlpeHt7k5qaipeXl73DqdEqk2BodQp3zP291FofADcnDW5OGq5m5Bn3OTuo6du6IeHtAgCFad/9Vez8wq+B8joky0gtK8oHvjJsP4ZtZyiuph2Kc3JyiI+PJyQkBJdqPP+OEDVBWb9P5n5/S3IjyY3FKlMDUjhaCkqu9Vn6eFfuCg3gyIXrbDpxmY3Hk0hIyTIrnqKdoUuKo7SRWuYmRuIWmUDhFCMZgC3zDUluhKj1rJHcSLOUsFhl+vyY28egWzNfujXzZfrdt3EyMZ1NJ5JYe/gfLlwveTZquNkh+ZXv/6Jz03o08HCigaFZzMfNkZlWWJNLFKEB7imybdN7aeCee25uCyFECSS5EXZTkT4GKpWK0EZehDbyonlDd6asji73+t8f/ofvD/9ToZhkpFYluABVNRODiwvYadoHIUTNIcmNsKvK1PqYu+zFwNv80KhVXMvI5VpmHlfTc8nMK3voaKGL17OAsuOSDslCCFE9SXIjahxzh6GvGN29WLKxPTaZMWbMBvvaj8fZejKZ8PYBDLjND29X016y0iFZCCGqrxq3KrgQhcPQ4WYn4ELlTXp2h2E22LLqVzQqyNPq2HgiiRe+jab721sY/el+vv4zgSvpucYOybcuRVG4dESdWxG9cPmFVoZtW8rM1HcidnfXbwshRAkkuRE1UmGH5ABv0yaqAG+XMkc7lZcYqYAPH+3Kb8/dwXMDW9LKz4N8rcKO01d47cdj9HhnK899c6TUDsmg75Cs1dWhQYgKcMZQquJpZ2XpixBClEKapUSNVdlJz8wdqdW+sTcv3dWGuCsZbDqRxKbjSRz9J5V8benf4HWyQ7ILsKvItqg0RVG4npVPZm4B7s4O+Lg5GtduEkKYT5IbUaNZsvSEuYlRi4YePNO/Jc/0b8mqPfHM/CWm3Osnp5u3enqtoAH62DuImi01O58fDv3DZ3vOcb7IfE7NfN0Y0zuYB7o1KdbvS1QNlUrFjz/+yIgRI+wdiqgAaZYSdVZhYjS8c2PCWtQ3a6RTG3/zJn00d0SXENtPXyFsThRv/RZTbKLKhJQs3vothrA5UWw/fcXq975y5QqTJk2iadOmODs7ExAQwNChQ9m9e7fxGJVKZdVFNKtSTY69LDNnzkSlUpVZKurcuXOMHz+ekJAQXF1dadGiBZGRkeTl5ZV/Mvpax7vvvrvE17yk+FavXl3hGCtCam6EqIDyRmoBOGpUeLrUoV+tAuBHw/b9yKdKBWw/fYVxK/ejUHJ3pcJ92flaxq3cz8pxPenXuqHV7v/AAw+Ql5fHZ599RvPmzbl8+TJRUVFcu3bNavcQ1jdt2jQmTpxo/LlHjx48/fTTTJgwodLXPHXqFDqdjuXLl9OyZUuOHz/OhAkTyMzMZP78+eWev2jRojKTqpUrVxIeHm78uV69epWO1RxScyNEBZTVIblQvlZhxJLdvLfpFDn55s2rU6PlAg8bSq6dY6lBUrPzmfTlIX1iU05HbEXRJzqTvjxEana+Ve5/48YNdu7cydy5cxkwYADNmjWjZ8+eTJ8+nfvuuw/Qr7wNcP/996NSqYw/A/z888907doVFxcXmjdvzqxZsygoKDC5/lNPPUXDhg3x8vJi4MCBHD161Pj4zJkz6dy5M8uXLycoKAg3NzcefvhhUlNTTeL85JNPaNu2LS4uLtx222189NFHxsfy8vJ49tlnCQwMxMXFhWbNmjFnzpxyYy+qrGuU5NixYwwcOBBXV1fq16/P008/TUZGhvHxsWPHMmLECGbNmmV87hMnTjSpAdHpdMyZM8dYS9KpUye+//77Uu95Kw8PDwICAoxFo9Hg6elpsq+iwsPDWblyJXfddRfNmzfnvvvuY9q0aaxdu7bcc6Ojo3n//ff59NNPSz2mXr16JvHZepkSSW6EqKDSRmoFersw918dCG8XQIFOYckfcdzzwU72x6fYKdIqogb6GYqtP1HUaujXT1/UNfvj64dD/5Cdpy03sSmkKJCdp2VtBWfdLo2HhwceHh789NNP5OaWnJUeOKCfE2rlypUkJiYaf965cyejR49mypQpxMTEsHz5clatWsU777xjPPehhx4iOTmZDRs2cOjQIbp27cqgQYNISbn5+3DmzBnWrFnDr7/+ysaNGzly5AjPPPOM8fGvvvqKGTNm8M4773Dy5Elmz57NG2+8wWeffQbABx98wC+//MKaNWuIjY3lq6++MiYxpcV+q7KucavMzEyGDh2Kj48PBw4c4LvvvmPr1q08++yzJsdFRUVx8uRJtm3bxjfffMPatWuZNWuW8fE5c+bw+eefs2zZMk6cOMGLL77I448/zvbt243HBAcHF1vlvKJmz55t/H8urSQkJJR6fmpqKr6+vmXeIysri0cffZQlS5aUmVRNnjyZBg0a0LNnTz799FNsvqylUgelpqYqgJKammrvUEQNVqDVKXvOXFV+OvKPsufMVaVAqzM+tuHYJaX721uUZq/8pjR75TfltbV/KWnZeWadK2qe7OxsJSYmRsnOzjbreJ1Op/Sd+7sSbHh/mFuCX/lN6Tv3d0Wns8775fvvv1d8fHwUFxcXpXfv3sr06dOVo0ePmhwDKD/++KPJvkGDBimzZ8822ffFF18ogYGBiqIoys6dOxUvLy8lJyfH5JgWLVooy5cvVxRFUSIjIxWNRqP8888/xsc3bNigqNVqJTEx0Xj8119/bXKNt956SwkLC1MURVGee+45ZeDAgaW+HiXFfquKXOPjjz9WfHx8lIyMDOPj69atU9RqtZKUlKQoiqKMGTNG8fX1VTIzM43HLF26VPHw8FC0Wq2Sk5OjuLm5KXv27DG5z/jx45VRo0YZfx44cKDyv//9r8zYCzVr1kxZuHBhsf3Xrl1T/v777zJLfn5+idf8+++/FS8vL+Xjjz8u895PP/20Mn78eOPPJb3mb775prJr1y7l8OHDyrvvvqs4OzsrixcvLvWaZf0+mfv9La3jQlRSWSO1wtsHEtaiAXPWn2T1gQt89WcCUSeTeXtEewp0OpnduI67npVvMirKXApwPiWLG1n5+Lg7WRzHAw88wLBhw9i5cyf79u1jw4YNzJs3j08++YSxY8eWet7Ro0fZvXu3SU2NVqslJyeHrKwsjh49SkZGBvXrm/5+ZGdnExcXZ/y5adOmNG7c2PhzWFgYOp2O2NhYPD09iYuLY/z48SZ9SQoKCvD29gb0TUBDhgyhTZs2hIeHc++993LXXXdV6DWoyDVOnjxJp06dcC+yGn2fPn2MMfv7+wPQqVMn3NzcTJ5XRkYGFy5cICMjg6ysLIYMGWJy7by8PLp06WL8OSoqqkLPoyS+vr7l1ryU5OLFi4SHh/PQQw+V2Y/nl19+4ffff+fIkSNlXu+NN94wbnfp0oXMzEzee+89nn/++QrHZi5JboSwEW9XR959oCP3dW7E9LXHOH8ti6c+P1jisYWzG5c1AaGoPTJzC8o/qAwZuQVWSW4AXFxcGDJkCEOGDOGNN97gqaeeIjIysszkJiMjg1mzZvGvf/2rxOtlZGQQGBjItm3bij1ubkfSwn4sK1asoFevXiaPaQwrwnft2pX4+Hg2bNjA1q1befjhhxk8eHCF+q9Y4xoVUfi81q1bZ5LYATg7O1v1XrNnz2b27NllHhMTE0PTpk2NP1+6dIkBAwbQu3dvPv744zLP/f3334mLiyv2f/rAAw9w5513lvj/D9CrVy/eeustcnNzrf6cC0lyI4SN9W7RgE0v9OX9LbGs2BFf4jEK+g7Ks36NYUhoQM1agDMbCDNs7wVcbXivzEwo7A9x7px+GYYayN3Zso9eDwvPL0toaKjJUF5HR0e0WtOO8V27diU2NpaWLVuWeI2uXbuSlJSEg4NDqf1XABISErh06RKNGjUCYN++fajVatq0aYO/vz+NGjXi7NmzPPbYY6Vew8vLi5EjRzJy5EgefPBBwsPDSUlJwdfXt8TYK3qNotq2bcuqVavIzMw01t7s3r3bGHOho0ePkp2djaurq/F5eXh4EBQUhK+vL87OziQkJNCvX79yY7PExIkTefjhh8s8pvC1B32NzYABA+jWrRsrV65EXU6/tldffZWnnnrKZF+HDh1YuHAhERERpZ4XHR2Nj4+PzRIbkORGiCrh4qhhYBv/UpMbqMGzG+uAo0W2be3q1Sq4iW35uDnSzNeNhJSsCq1YoQKa+rpRz83yCf2uXbvGQw89xJNPPknHjh3x9PTk4MGDzJs3j+HDhxuPCw4OJioqij59+uDs7IyPjw8zZszg3nvvpWnTpjz44IOo1WqOHj3K8ePHefvttxk8eDBhYWGMGDGCefPm0bp1ay5dusS6deu4//776d69O6Cv5RkzZgzz588nLS2N559/nocfftjYMXXWrFk8//zzeHt7Ex4eTm5uLgcPHuT69etMnTqVBQsWEBgYSJcuXVCr1Xz33XcEBAQYaxJKiv1W5V2jqMcee4zIyEjGjBnDzJkzuXLlCs899xxPPPGEsUkK9E1M48eP5/XXX+fcuXNERkby7LPPolar8fT0ZNq0abz44ovodDruuOMOUlNT2b17N15eXowZMwaAQYMGcf/99xfrrFwRFWmWunjxIv3796dZs2bMnz+fK1duzqtU+P9x8eJFBg0axOeff07Pnj1LHZnVtGlTQkJCAPj111+5fPkyt99+Oy4uLmzZsoXZs2czbdq0Sj8vc0hyI0QVMXfW4ho3u7ELsLnItiiXSqViTO9g3vqt/NmubzW2T7BVlmTw8PCgV69eLFy4kLi4OPLz8wkKCmLChAm89tprxuPef/99pk6dyooVK2jcuDHnzp1j6NCh/Pbbb7z55pvMnTsXR0dHbrvtNuNf8SqVivXr1/Pf//6XcePGceXKFQICAujbt69JEtCyZUv+9a9/cc8995CSksK9995rMtT7qaeews3Njffee4///Oc/uLu706FDB1544QUAPD09mTdvHn///TcajYYePXqwfv16Y41DSbHfqrxrFOXm5samTZuYMmUKPXr0wM3NjQceeIAFCxaYHDdo0CBatWpF3759yc3NZdSoUSYjn9566y0aNmzInDlzOHv2LPXq1aNr164mr3tcXBxXqzCR37JlC2fOnOHMmTM0adLE5DHFMLIpPz+f2NhYsiqwtpujoyNLlizhxRdfRFEUWrZsyYIFCyyak8ccKkWx9Xis6ictLQ1vb29SU1Px8jJvxlkhLLU37hqjVuwr97ivnupFn5YNqiCiGigzEzw89NsZGdWmWSonJ4f4+HhCQkLMnr8jNTufsDlRZOebNxxcrdLXAO6dPqhWLMUwc+ZMfvrpJ6Kjo+0dilWNHTuWGzdu1MqZkatKWb9P5n5/1+yJIoSoQQpnNy7vb+43fz3Bnria3/Qiyubt6sjSx7vpV6Mv501R+Piyx7vVisRGCFuT5EaIKlLW7MaFP7s5aYi9nMGjK/5k4heHSLhW8eHCVa4AWGcolg0CqnP6tW7IynE9cXXU6JOcWx4v3OfqqGHVuJ70teLSC0LUZtIsJc1SooptPJ5Y6jw3vULqs3Drab76MwGtTsFJo+apO0N4ZkBLkxEyWp1i1ormVSITMLQUkQHYsqWoFjVLFZWanc/aw/+wanfxVcHH9tGvCu7lIjU2om6wRrOUJDeS3Ag7KC85iU1K563fYth1Rt881dDTmZeHtuGBrk3YHJNUvSYBzAb6GrZ3YNuh4NnZ0Ndwsx07wNWWNzOfpclNIUVRuJGVT0ZuAR7ODtRzc7RK52EhahJJbipJkhtREyiKwtaTyby9LobzhuapZvXdjNtFFX79ySSA9mGt5EYIIR2KhajVVCoVQ0L92fxiX6bffRvuTpoSExvAOFfKrF9j0Orq3N8rQghhQpIbIao5ZwcN/+7XgvkPdyrzuKKTAAohRF0myY0QNURegXnT/1b5JIDZQB9DybbxvbKy9MsvBAfrt4UQogQyQ7EQNYSfp3l9Ocw9zmp0wJ4i27akKHD+/M1tIYQogdTcCFFDmDMJYKC3fuRVlXIGfjQU262DJ2qIVatWmb3yd3VRE2MWZZPkRogaoqxJAAu9evdtVT/fjQMwwlCkLrhGGTt2LCqVqlgJDw836/zg4GAWLVpksm/kyJGcPn3aBtGaqqqEZNWqVSW+RkVLSWtWVcacOXPo0aMHnp6e+Pn5MWLECGJjY80+f/Xq1ahUKkaMGGGyv6T/Z3P/j2sqSW6EqEHC2wey9PGuBHibNj0VToWy8XgSOhktJSogPDycxMREk/LNN99U+nqurq74+flZMUL7GjlypMlrExYWxoQJE0z2BQUFWeVe27dvZ/Lkyezbt48tW7aQn5/PXXfdRWZmZrnnnjt3jmnTpnHnnXeW+Pit/8+W/B/XBJLcCFHDhLcPZNcrA/lmwu0sfqQz30y4nW8m3I6jRsWG40ks2GL7v5pNaIFthqKt2lsLyzk7OxMQEGBSfHx8AP1cSzNnzqRp06Y4OzvTqFEjnn/+eQD69+/P+fPnefHFF421AVC8RmXmzJl07tyZTz/9lKZNm+Lh4cEzzzyDVqtl3rx5BAQE4OfnxzvvvGMS14IFC+jQoQPu7u4EBQXxzDPPkJGRAcC2bdsYN24cqampxnsXrrqdm5vLtGnTaNy4Me7u7vTq1Ytt27aZXHvVqlU0bdoUNzc37r//fq5du1bq6+Pq6mry2jg5OeHm5mb82cXFhWeeeQZ/f39cXFxo3749v/32W6X+LzZu3MjYsWNp164dnTp1YtWqVSQkJHDo0KEyz9NqtTz22GPMmjWL5s2bl3jMrf/Phf/HtZVUIgtRA2nUKsJa1DfZN+dfHZn23VE+/OMMLf08GNGlcdUEkwMMMGzbevmFmqasv7g1Gig6QVlZx6rVprMxl3aslZej+OGHH1i4cCGrV6+mXbt2JCUlcfToUQDWrl1Lp06dePrpp5kwYUKZ14mLi2PDhg1s3LiRuLg4HnzwQc6ePUvr1q3Zvn07e/bs4cknn2Tw4MH06tULALVazQcffEBISAhnz57lmWee4eWXX+ajjz6id+/eLFq0iBkzZhibbTwMy3I8++yzxMTEsHr1aho1asSPP/5IeHg4x44do1WrVvz555+MHz+eOXPmMGLECDZu3EhkZGSlXh+dTsfdd99Neno6X375JS1atCAmJgaNRgNAQkICoaGhZV7jtdde47XXXivxsdTUVAB8fcvuR/fmm2/i5+fH+PHj2blzZ4nHbNu2DT8/P3x8fBg4cCBvv/029evXL/HYWkGpg1JTUxVASU1NtXcoQljVnPUnlWav/Ka0+u965eC5lKq5aaaiKKGGkmnre2UqSmiovmTa+mbmy87OVmJiYpTs7GzTB/Rjukou99xjeqybW+nH9utnemyDBiUfV0FjxoxRNBqN4u7ublLeeecdRVEU5f3331dat26t5OXllXh+s2bNlIULF5rsW7lypeLt7W38OTIyUnFzc1PS0tKM+4YOHaoEBwcrWq3WuK9NmzbKnDlzSo31u+++U+rXr1/qfRRFUc6fP69oNBrl4sWLJvsHDRqkTJ8+XVEURRk1apRyzy2v/ciRI4tdqzT9+vVTpkyZoiiKomzatElRq9VKbGxsicfm5+crf//9d5nl2rVrJZ6r1WqVYcOGKX369Ckznp07dyqNGzdWrly5oiiK/v90+PDhJsd88803ys8//6z89ddfyo8//qi0bdtW6dGjh1JQUGDWc65qpf4+KeZ/f0vNjRC1yMtD2xB3JYMtMZf59xcH+WlyH5r4uNn2pm7ACdve4ua93OBEVd2sbhgwYABLly412VdYU/DQQw+xaNEimjdvTnh4OPfccw8RERE4OFTsqyM4OBhPT0/jz/7+/mg0GtRqtcm+5ORk489bt25lzpw5nDp1irS0NAoKCsjJySErKws3t5Lf08eOHUOr1dK6dWuT/bm5ucZaipMnT3L//febPB4WFsbGjRsr9JwAoqOjadKkSbH7FXJwcKBly5YVvi7A5MmTOX78OLt27Sr1mPT0dJ544glWrFhBgwYNSj3ukUceMW536NCBjh070qJFC7Zt28agQYMqFV91J8mNELWIWq1i0cjOPLhsLycT03jqs4N8P6m3yYriogoZ+oiUyNB0YVTki70Y9S3dI600OgfA3d291C/goKAgYmNj2bp1K1u2bOGZZ57hvffeY/v27Tg6mr9K+a3HqlSqEvfpdPqJks6dO8e9997LpEmTeOedd/D19WXXrl2MHz+evLy8UpObjIwMNBoNhw4dMjYNFSpstrIm13IWbq1ss9Szzz7Lb7/9xo4dO2jSpEmp58bFxXHu3DkiIiKM+wpfQwcHB2JjY2nRokWx85o3b06DBg04c+aMJDdCiJrB3dmBT8Z0Z/iHuzmVlM6Ub47w8ejuVT9EXFSsD4ytjrWQq6srERERREREMHnyZG677TaOHTtG165dcXJyQqu1fi/yQ4cOodPpeP/99421O2vWrDE5pqR7d+nSBa1WS3Jycqmjhtq2bcuff/5psm/fvn2VirNjx478888/nD59usTam0aNGhEdHV3mNYr2p1EUheeee44ff/yRbdu2ERISUua5hf8XRb3++uukp6ezePHiUkdx/fPPP1y7do3AwNq7yK4kN0LUQo3rubJidDdGfryPqFPJzN14itfuaWubm2UD9xm2fwHK/mPWMllZ0KOHfvvAAX0zlbBIbm4uSUlJJvscHBxo0KABq1atQqvV0qtXL9zc3Pjyyy9xdXWlWbNmgL65aceOHTzyyCM4OzuX2TRSES1btiQ/P5///e9/REREsHv3bpYtW2ZyTHBwMBkZGURFRdGpUyfc3Nxo3bo1jz32GKNHj+b999+nS5cuXLlyhaioKDp27MiwYcN4/vnn6dOnD/Pnz2f48OFs2rSpUk1SAP369aNv37488MADLFiwgJYtW3Lq1CnjPDIVbZaaPHkyX3/9NT///DOenp7G/xdvb29jLdHo0aNp3Lgxc+bMMY7OKqpwpFrh/oyMDGbNmsUDDzxAQEAAcXFxvPzyy7Rs2ZKhQ4dW6nnXBDIUXIhaqktTH+Y/pF9s8+MdZ1lz4IJtbqQDthpKVSy/EBOjL7L8glVs3LiRwMBAk3LHHXcA+i/KFStW0KdPHzp27MjWrVv59ddfjf1X3nzzTc6dO0eLFi1o2LCh1WLq1KkTCxYsYO7cubRv356vvvqKOXPmmBzTu3dvJk6cyMiRI2nYsCHz5s0DYOXKlYwePZqXXnqJNm3aMGLECA4cOEDTpk0BuP3221mxYgWLFy+mU6dObN68mddff73Ssf7www/06NGDUaNGERoayssvv1zp2qylS5eSmppK//79Tf4/vv32W+MxCQkJJCYmmn1NjUbDX3/9xX333Ufr1q0ZP3483bp1Y+fOnTg7194pxVWKUvc+IdLS0vD29iY1NRUvLy97hyOETS3YcpoPov7GUaPii/G9uL25lYd/FgCFn70jsW19cGYmFPadyMio0uaZsuTk5BAfH09ISAguLlW8tpcQtUxZv0/mfn9LzY0QtdwLg1oxrGMg+VqFSV8e4uyVDPbGXePn6IvsjbuG1tIZjR2AxwxFGrqFENWAfBQJUcup1SrmP9iJCylZ/PVPKkMW7jBJaAK9XYiMCCW8fe3tXCiEqFuk5kaIOsDVScOjPfV9Dm6tqUlKzWHSl4fZeNz8dnwTWuCAocjyC0KIakCSGyHqAK1OYXHU3yU+VpjqzPo1pnJNVDlAT0PJqWSAQghhRZLcCFEH7I9PITG19MxDARJTc9gfn1Lxi6uAZoZi66l0VCpo1kxfVDJvjxCiZNLnRog6IDndvCoVc48z4Qacq/hpleLmZtXZeYUQtZPU3AhRB/h5mjc82dzjhBCiOpPkRog6oGeIL4HeLqW2GqnQj5rqGeJbyhFCCFFzSHIjRB2gUauIjNAv4FdaghMZEVq59adygBGGYusOxdnZ+uUXevTQbwshRAkkuRGijghvH8jSx7sS4G3a9KRWwUePda38PDda4GdDsfVQcJ0ODh7UF52t13oQ27ZtQ6VScePGDXuHUiEqlYqffvrJatcLDg5m0aJFVruesD1JboSoQ8LbB7LrlYF8M+F25j/UESeNGp0CQb4WLEDpBHxsKE5WClTYnEqlKrPMnDnT3iGWa+bMmXTu3LnY/sTERO6+++4qiSE4OLjM13Hs2LFWuc/Ro0cZNWoUQUFBuLq60rZtWxYvXlzmOefOnWP8+PGEhITg6upKixYtiIyMJC8vz+Q4RVGYP38+rVu3xtnZmcaNG/POO++YHLNkyRLatm2Lq6srbdq04fPPP7fK87IVGS0lRB2jUasIa1EfqM/WmGQ2nkhi84kk2jf2rtwFHYEJ1oxQVIWiiy9+++23zJgxg9jYWOM+Dw8PDh48aI/QyMvLw8mp8plyQECAFaMp24EDB4wLZe7Zs4cHHniA2NhY47pHhat5W+rQoUP4+fnx5ZdfEhQUxJ49e3j66afRaDQ8++yzJZ5z6tQpdDody5cvp2XLlhw/fpwJEyaQmZnJ/PnzjcdNmTKFzZs3M3/+fDp06EBKSgopKTenhVi6dCnTp09nxYoV9OjRg/379zNhwgR8fHyIiIiwyvOzOqUOSk1NVQAlNTXV3qEIYVffH7ygNHvlN2Xowu32DsU8GRmKol8PXL9dTWRnZysxMTFKdna2vUOplJUrVyre3t7F9v/xxx8KoGzdulXp1q2b4urqqoSFhSmnTp0yOe6nn35SunTpojg7OyshISHKzJkzlfz8fOPj58+fV+677z7F3d1d8fT0VB566CElKSnJ+HhkZKTSqVMnZcWKFUpwcLCiUqkURVGU69evK+PHj1caNGigeHp6KgMGDFCio6ONMaOfoslYVq5cqSiKogDKjz/+aLz+hQsXlEceeUTx8fFR3NzclG7duin79u1TFEVRzpw5o9x3332Kn5+f4u7urnTv3l3ZsmWLyfNr1qyZsnDhwnJfx8LX6/r168Z9v/zyi9K9e3fF2dlZqV+/vjJixIhyr2OuZ555RhkwYECFzpk3b54SEhJi/DkmJkZxcHAo9n9aVFhYmDJt2jSTfVOnTlX69OlTsYDNVNbvk7nf39IsJUQdNvA2PzRqFaeS0rmQklW5i+iAE4Yi3WBMZRpK0Ymf8wz7cks5tuhrmG/Yd2tH7dKOtZH//ve/vP/++xw8eBAHBweefPJJ42M7d+5k9OjRTJkyhZiYGJYvX86qVauMzRo6nY7hw4eTkpLC9u3b2bJlC2fPnmXkyJEm9zhz5gw//PADa9euJTo6GoCHHnqI5ORkNmzYwKFDh+jatSuDBg0iJSWFkSNH8tJLL9GuXTsSExNJTEwsdk2AjIwM+vXrx8WLF/nll184evQoL7/8MjpDn62MjAzuueceoqKiOHLkCOHh4URERJCQkGDx67Zu3Truv/9+7rnnHo4cOUJUVBQ9e/Y0Pp6UlMSkSZNo27Ytbdu25YUXXmDfvn3k5ORw7Ngxhg0bRk5O6b30U1NT8fWt2AjHW8/59ddfad68Ob/99hshISEEBwfz1FNPmdTc5ObmFlud29XVlf3795Ofb8M3niVsknZVc1JzI8RNI5fvUZq98pvyyc6zlbtAhqIoGIqtK1NqWs1N4euSXGTf24Z9T91yETfD/vgi+xYa9j16y7ENDPuPF9n3caVCVxTFvJqbQuvWrVMA43MdNGiQMnv2bJPzvvjiCyUwMFBRFEXZvHmzotFolISEBOPjJ06cUABl//79iqLoa24cHR2V5OSbL9TOnTsVLy8vJScnx+TaLVq0UJYvX248r1OnTsXipkjNzfLlyxVPT0/l2rVrZr4aitKuXTvlf//7n/HnytbchIWFKY899lipx48ePVp58cUXlaioKGX16tXKqFGjFHd3dwVQfH19ldmzZys6na7Ec3fv3q04ODgomzZtMvt5/f3334qXl5fy8cc33yz//ve/FWdnZ6VXr17Kjh07lD/++EPp3LmzSY3Q9OnTlYCAAOXgwYOKTqdTDhw4oPj7+yuAcunSJbPvby5r1NxInxsh6ri7QgPYdzaFzSeSGH9HSOUu0sC6MZV9r6q8mQDo2LGjcTswUD+qLjk5maZNm3L06FF2795t0gFVq9WSk5NDVlYWJ0+eJCgoiKCgIOPjoaGh1KtXj5MnT9KjRw8AmjVrRsOGDY3HHD16lIyMDOrXr28SS3Z2NnFxcWbHHh0dTZcuXUqt4cjIyGDmzJmsW7eOxMRECgoKyM7OtkrNTXR0NBMmlN4hbdGiRfj4+HD27FlCQ0MZOXIkeXl5XLt2jYCAAK5fv46iKKhuWWrk+PHjDB8+nMjISO666y6zYrl48SLh4eE89NBDJjHpdDpyc3P5/PPPad26NQD/93//R7du3YiNjaVNmza88cYbJCUlcfvtt6MoCv7+/owZM4Z58+ahVlfPBiBJboSo44aE+vPmbzEcOJfC9cw8fNwr2JHTHbhik9BKuJc7XKmqm1lBhuHfooPR/gO8QPFP32TDv0X7n05G31lbc8ux50o4dmwlYzSDo6Ojcbvwi7Zos86sWbP417/+Vey8W5syyuLu7m7yc0ZGBoGBgWzbtq3YsfXq1TP7uuV16J02bRpbtmxh/vz5tGzZEldXVx588MFiI4oqo7x7nz17lieffJK//voLgNtvv50nn3yS22+/nR07dvDaa69x4sQJk9cxJiaGQYMG8fTTT/P666+bFcelS5cYMGAAvXv35uOPPzZ5LDAwEAcHB2NiA9C2bVsAEhISaNOmDa6urnz66acsX76cy5cvExgYyMcff4ynp6dJQlqdSHIjRB0X5OtG20AvTiam8fupZB7o1sTeIdUe7iXsc6LkIfMlHetoKOYeawddu3YlNjaWli1blvh427ZtuXDhAhcuXDDW3sTExHDjxg1CQ0PLvG5SUhIODg4EBweXeIyTk5NxpFJpOnbsyCeffEJKSkqJtTe7d+9m7Nix3H///YA+qTpnpfXLOnbsSFRUFOPGjSvx8U8//ZSJEycybNgwLl++zM8//8zChQs5f/487dq1Y/bs2SaJzYkTJxg4cCBjxowpNlS7NBcvXmTAgAF069aNlStXFqtp6dOnDwUFBcTFxdGiRQsATp8+Dehr04pydHSkSRP958Pq1au59957peZGCFF9DQn152RiGptjkiS5ERUyY8YM7r33Xpo2bcqDDz6IWq3m6NGjHD9+nLfffpvBgwfToUMHHnvsMRYtWkRBQQHPPPMM/fr1o3v37qVed/DgwYSFhTFixAjmzZtH69atuXTpkrGTbvfu3QkODiY+Pp7o6GiaNGmCp6cnzs7OJtcZNWoUs2fPZsSIEcyZM4fAwECOHDlCo0aNCAsLo1WrVqxdu5aIiAhUKhVvvPGGsVbKUpGRkQwaNIgWLVrwyCOPUFBQwPr163nllVcAWLx4MQ4O+q/hpk2b0qNHD95+++0Sr3X8+HEGDhzI0KFDmTp1KklJSQBoNBpj7cn+/fsZPXo0UVFRNG7cmIsXL9K/f3+aNWvG/PnzuVKk1rNwuPzgwYPp2rUrTz75JIsWLUKn0zF58mSGDBlirM05ffo0+/fvp1evXly/fp0FCxZw/PhxPvvsM6u8TrZQPVMuIUSVuivUH4Adp6+Sk1/BaYZzgMcMpSqWX+jfX19k+YVqYejQofz2229s3ryZHj16cPvtt7Nw4ULjX/0qlYqff/4ZHx8f+vbty+DBg2nevDnffvttmddVqVSsX7+evn37Mm7cOFq3bs0jjzzC+fPn8ffXv18feOABwsPDGTBgAA0bNuSbb74pdh0nJyc2b96Mn58f99xzDx06dODdd99Fo9G39S1YsAAfHx969+5NREQEQ4cOpWvXrlZ5bfr37893333HL7/8QufOnRk4cCD79+83Pl6Y2Jjj+++/58qVK3z55ZcEBgYaS2GfJYCsrCxiY2ONI5i2bNnCmTNniIqKokmTJibnFVKr1fz66680aNCAvn37MmzYMNq2bcvq1auNx2i1Wt5//306derEkCFDyMnJYc+ePaXWqFUHKkVRlPIPq13S0tLw9vYmNTXVONGSEHWZoijcMfcPLt7I5pPR3RlsSHbMkgl4GLYzKLnJxFoyM8HDcLOMDH0fnGogJyeH+Ph4QkJCKtTPRAhRXFm/T+Z+f0vNjRAClUrFEENCsyXmcsVOdgIWGoosvyCEqAYkuRFCABiTm60nL6PVVaBC1xH96J8XsFunViGEKEqSGyEEAD1DfPFyceBaZh5HEq7bOxwhhKg0SW6EEAA4atQMvM0PgM0VaZrSoZ935Ryy/IIQolqQ5EYIYXRXO/3w0M0nkjB7rEE2EGIodXwAUx0cnyGE1Vnj96haJDdLliwhODgYFxcXevXqZTJUriSLFi0yzpoYFBTEiy++WObiYkII8/Rt3RAnjZpz17I4k5xR/gmF3DCdhdeW3Nz0pRopHFZsjVlthajrsrL0i/gWnRm7ouw+id+3337L1KlTWbZsGb169WLRokUMHTqU2NhY/Pz8ih3/9ddf8+qrr/Lpp5/Su3dvTp8+zdixY1GpVCxYsMAOz0CI2sPD2YE+LevzR+wVNsdcppW/Z/knuaMfDl4V3N31w8GrGQcHB9zc3Lhy5QqOjo7VdtZWIaozRVHIysoiOTmZevXqGf9oqAy7z3PTq1cvevTowYcffgjo1ysJCgriueee49VXXy12/LPPPsvJkyeJiooy7nvppZf4888/2bVrl1n3lHluhCjd138m8NqPx+gUVI+fJ/exdzg1Rl5eHvHx8Vab3VaIuqpevXoEBAQUWzAUzP/+tmvNTV5eHocOHWL69OnGfWq1msGDB7N3794Sz+nduzdffvkl+/fvp2fPnpw9e5b169fzxBNPlHqf3NxccnNzjT+npaVZ70kIUcsMDvXjvz/B0Qs3uJyWg7+XTEpnDicnJ1q1aiVNU0JYwNHR0aIam0J2TW6uXr2KVqs1TqVdyN/fn1OnTpV4zqOPPsrVq1e54447UBSFgoICJk6cyGuvvVbqfebMmcOsWbOsGrsQtZWfpwudg+pxJOEGW2Iu8/jtzco+IRd41rD9IeBcxrGWysmBBx7Qb//wA1Sz2YDVarXMUCxENVDjGoa3bdvG7Nmz+eijjzh8+DBr165l3bp1vPXWW6WeM336dFJTU43lwoULVRixEDXPXaH6UVNmzVZcAHxiKAW2jArQamH9en0pZzVoIUTdZdeamwYNGqDRaLh82fQD9PLly8YVS2/1xhtv8MQTT/DUU08B0KFDBzIzM3n66af573//W2JHPmdn52IrxQohSjck1J+5G0+xJ+4q6Tn5eLqUMWrBEXi7yLYQQtiZXWtunJyc6Natm0nnYJ1OR1RUFGFhYSWek5WVVSyBKWyfkzkmhLCOln4eNG/oTr5WYfvpK2Uf7AT811BkbSkhRDVg92apqVOnsmLFCj777DNOnjzJpEmTyMzMZNy4cQCMHj3apMNxREQES5cuZfXq1cTHx7NlyxbeeOMNIiIirNIJSQihV7jW1OYTFVxIUwgh7Mzu89yMHDmSK1euMGPGDJKSkujcuTMbN240djJOSEgwqal5/fXXUalUvP7661y8eJGGDRsSERHBO++8Y6+nIEStdFdoAMu3n+WP2GTyCnQ4OZTyt5ACXDVsNwCKj94UQogqZfd5buxB5rkRonw6nULP2VFczcjli/E9ubNVw5IPzAQ8DNsZ6Cf1s5XMTPAw3CwjQz+pnxCizjD3+9vuzVJCiOpJrVYxJFQ/S7hZo6aEEKKakORGCFGqwn43W2Iul95h3x1905SCbWttQF9Toyj6IrU2QohSSHIjhChV7xYNcHPSkJiaw/GLMrO3EKJmkORGCFEqF0cN/Vrr+9psjkmyczRCCGEeSW6EEGW6q93NpqkS5QIvGEpuyYdYTU4OPPSQvuTk2PhmQoiaSpIbIUSZBrTxQ6NWcSopnYRrWcUPKAAWG0pVLL/w/ff6IssvCCFKIcmNEKJM9dyc6BXiC5TSNOUIvGYosvyCEKIakORGCFEu42zFJTVNOQHvGIosvyCEqAYkuRFClKswuTl4LoWUzDw7RyOEEGWT5EYIUa4mPm6EBnqhUyDq5C21Nwr6WYozDdtCCGFnktwIIcxSdEI/E1nol1/wMGwLIYSdSXIjhDBL4ZDwHX9fITtPRioJIaovSW6EEGYJDfSicT1XcvJ17Dpz9eYDbugXzMwwbNuSm5t+wcyMDP22EEKUQJIbIYRZVCqVsWnqy33n+Dn6InvjrqFVFP2aUu6AyuZB6NeUcnfXbwshRAkc7B2AEKLmqOeqn8hm++mrbD+tr70J9HYhMiKU8PaB9gxNCCGMpOZGCGGWjccTWRz1d7H911JyiXs6k7inM8DWo8Rzc2HsWH3JtfVaD0KImkqSGyFEubQ6hVm/xpQ40lujVTN5b0tarPBAm2vjseAFBfDZZ/pSYOu1HoQQNZU0SwkhyrU/PoXE1JIXqtSqFT7tFg9A6AUvbg+tX5WhCSFEMZLcCCHKlZxe+grceQ463hwcA8DivM5VFJEQQpROmqWEEOXy83Sx6nFCCGFLktwIIcrVM8SXQG+XMkd6B3q70NOwergQQtiTJDdCiHJp1CoiI0KB4lPZuOZpODd3GHtfG4QmW+aeEULYnyQ3QgizhLcPZOnjXQnwNm16cna4+TFyLUOGZwsh7E86FAshzBbePpAhoQHsj08hOT0HP08X2vh5MsJtNwkpWbT80YOvJvTCUWOjv5vc3CA5+ea2EEKUQKUoio0npqh+0tLS8Pb2JjU1FS8vL3uHI0SNdyY5nRFL9pCRW8ATtzfjrRHt7R2SEKIWMvf7W5qlhBAWa+nnyeJHOqNSwRf7zvP1nwn2DkkIUYdJciOEsEwe8A4MWuvPywPaADDj5+Psj0+x/r1yc2HyZH2R5ReEEKWQZilplhLCMpmAh35TSVd47pcj/PZXIvXdnfjluTtoXM/VivfKBA/DzTIy9KuDCyHqDGmWEkJUDQfgKX1ROaqY92BHQgO9uJaZx9OfHyQ7T2vvCIUQdYwkN0IIyzgDKwzFGdycHFgxpjv13Z04cSmNl3/4izpYQSyEsCNJboQQVte4nisfPdYVB7WKX49eYtn2s/YOSQhRh0hyI4SwiV7N6zPzvnYAzNt0ij9OJds5IiFEXVGhSfx27NhRqZsEBwfTtGnTSp0rhKjmMgE/w3YyUKSP7+O3NyMmMY2v/0zg+W+O8P2k3qRk5hknAOwZ4otGLUs2CCGsq0KjpUJCQip+A5WKF154geeff77C59qKjJYSwoqKjJYiA5PkBiCvQMfjn/zJ/nMpaNQqtLqbHzmB3i5ERoQS3j7QzHvJaCkh6jJzv78rVHMTHx9vcWBCiFrGFYgvsn0LJwc1D3Zvwv5zKSaJDUBSag6TvjzM0se7mpfguLpC4eeQqxWHmAshahXpcyOEsIwaCDaUEj5RtDqFhVtOl3hqYaoz69eYYolPyfdSQ3Cwvqjl40sIUTKLFs7U6XScOXOG5ORkdDqdyWN9+/a1KDAhRO2wPz6FxNScUh9XgMTUHPbHpxDWon7VBSaEqLUqndzs27ePRx99lPPnzxebw0KlUqHVysRdQtQJ+cASw/ZkwNH04eT00hObCh+Xlwf//a9++513wMnJ3CiFEHVIpZObiRMn0r17d9atW0dgYCAqlYx4EKJOygNeNGxPoFhy4+fpYtZlzDouPx/mz9dvz5wpyY0QokSVTm7+/vtvvv/+e1q2bGnNeIQQNY0GeLTI9i16hvgS6O1CUmoOJfWqUQEB3vph4UIIYQ2V7pHXq1cvzpw5Y81YhBA1kQvwlaGUUPmiUauIjAgF9InMrRQgMiJU5rsRQlhNpWtunnvuOV566SWSkpLo0KEDjo6mddEdO3a0ODghRO0Q3j6QpY93ZdavMcU6F3cO8jZ/nhshhDBDhSbxK0pdwjBMlUqFoijVvkOxTOInhH1odQr741NITs8hX6tj2nd/AbB1al9a+nmWfwGZxE+IOs0mk/gVJRP6CSEA/QzFwYbtcxSbobgojVplMtx784nLbI65zPLtZ3nvoU62i1EIUadUOrlp1qyZNeMQQtRkVyt32sT+Ldgcc5mfoi8y9a7WBHrLrMNCCMtZNMVnXFwczz33HIMHD2bw4ME8//zzxMXFWSs2IURN4AocN5QK5iZdm/rQK8SXfK3C/+00ozbY1RWOH9cXWX5BCFGKSic3mzZtIjQ0lP3799OxY0c6duzIn3/+Sbt27diyZYs1YxRCVGdqoJ2hVOITZVL/FgB8sz+BG1l55dxLDe3a6YssvyCEKEWlOxR36dKFoUOH8u6775rsf/XVV9m8eTOHDx+2SoC2IB2Khag+FEXhng92cTIxjZeGtOa5Qa3sHZIQopoy9/u70n/6nDx5kvHjxxfb/+STTxITE1PZywohapp8YIWh5Ff8dJVKxcR+zQFYuecc2XlljLTMy9PPTDxzpn5bCCFKUOnkpmHDhkRHRxfbHx0djZ+fnyUxCSFqkjzgaUOpZL4xrEMgQb6upGTm8d2hC6UfmJ8Ps2bpS34lMikhRJ1Q6dFSEyZM4Omnn+bs2bP07t0bgN27dzN37lymTp1qtQCFENWcBhheZLsSHDRqnr6zOW/8fILl288yqmdTHDXSp0YIUTmV7nOjKAqLFi3i/fff59KlSwA0atSI//znPzz//PPVeiFN6XMjRPWTk6+lz7u/cy0zj0UjOzOiS+PiB8kkfkLUaeZ+f1c6uSkqPT0dAE9PM2YYrQYkuRGielryxxne2xTLbQGebJhyZ/E/kiS5EaJOs3mH4qI8PT1rTGIjhKi+Hu/VDHcnDaeS0tkWe8Xe4QghaqgK9bnp2rUrUVFR+Pj40KVLlzKbnqrzUHAhhBVlAaGG7RjArfKX8nZz5LHbm/HxjrMs3R7HgNtkcIIQouIqlNwMHz4cZ2dn43Z17lcjhKgiCnC+yLaFxt8Rwqrd59gfn8Kh8yl0a+Zr+UWFEHWKVfrc1DTS50YIK9IChRW1Xan0iKmiXvn+L749eIHBbf35ZEz3IvfSQmGtcNeuoLHCzYQQNYbN+9w0b96ca9euFdt/48YNmjdvXtnLCiFqGg3Qw1CslGs83a85KhVsPXmZvy+nF7mXBnr00BdJbIQQpah0cnPu3Dm02uIziebm5vLPP/9YFJQQom5r0dCD8HYBACzbftbO0QghapoKT+L3yy+/GLc3bdqEt7e38WetVktUVBQhISHWiU4IUf0VAN8atkdiwdSgpib2a8GG40n8HH2RqXe1pnE9V/2SC4sX6w+YMgWcnKxzMyFErVLhPjdqw0q8KpWKW091dHQkODiY999/n3vvvdd6UVqZ9LkRwooyAcPUM2QAVpx65tEV+9gTd40n+4QwIyJU5rkRoo6zWZ8bnU6HTqejadOmJCcnG3/W6XTk5uYSGxtbrRMbIYSVqYHBhmLlFRMm9msBwDf7E7ieKQtlCiHMU+mPovj4eBo0aGDNWIQQNZErsMVQXK176TtbNaBdIy+y87V8vve8SW1xSmZesdpjIYQAC1vHMzMz2b59OwkJCeTlmf5V9fzzz1sUmBBCqFQqJvVvwbNfH2HZ9jh+23uaLYbH+rz7O34BvozpHcwD3Zrg7epo11iFENVHpZObI0eOcM8995CVlUVmZia+vr5cvXoVNzc3/Pz8JLkRQliFu5MDKiA7X8s/mTkmjyWkZPHWbzHM3xzL0se70a91Q/sEKYSoVirdLPXiiy8SERHB9evXcXV1Zd++fZw/f55u3boxf/58a8YohKjOsoB2hpJl3UtvP32F8Z8dKHXiY8VQsvO1jFu5n+2nZT0qIYQFyU10dDQvvfQSarUajUZDbm4uQUFBzJs3j9dee82aMQohqjMF/ZpSMVhl+YVCqdn5TPrykFmXVBT9rSd9eYjU7HzrBSGEqJEq3Szl6OhoHBbu5+dHQkICbdu2xdvbmwsXLlgtQCFENecC/FFk20p+OPQP2Xlak+Qm18GRR0bNNm4XpSiQnadl7eF/GNdH5toSoi6rdHLTpUsXDhw4QKtWrejXrx8zZszg6tWrfPHFF7Rv396aMQohqjMN0N+6l1QUhc/2nCu2X6fWsK9pxzLPXbX7HGN7B8vCvkLUYZVulpo9ezaBgYEAvPPOO/j4+DBp0iSuXLnC8uXLK3StJUuWEBwcjIuLC7169WL//v1lHn/jxg0mT55MYGAgzs7OtG7dmvXr11f2qQghqpnrWfmcT8mqcCuXApxPyeJGljRNCVGXVbrmpnv3myv1+vn5sXHjxkpd59tvv2Xq1KksW7aMXr16sWjRIoYOHUpsbCx+fn7Fjs/Ly2PIkCH4+fnx/fff07hxY86fP0+9evUq+1SEEJYoAH4zbN+LVZZfyMwtKHG/g7aAUUf1nzXfdAqnQFPyzTJyC/Bxl6UZhKirKl1z8+abb/L7778X25+Zmcmbb75p9nUWLFjAhAkTGDduHKGhoSxbtgw3Nzc+/fTTEo//9NNPSUlJ4aeffqJPnz4EBwfTr18/OnXqVNmnIoSwRC5wv6HkWueS7s4lJy2O2gLe2rKMt7Ysw1FbcgIE4FHK+UKIuqHSyc3MmTO5++67WbBggcn+jIwMZs2aZdY18vLyOHToEIMHD74ZkFrN4MGD2bt3b4nn/PLLL4SFhTF58mT8/f1p3749s2fPLnGF8kK5ubmkpaWZFCGElaiB3oZipeUXfNwcaebrRkV7zaiAZr5u1HOTCf2EqMss+ij6/PPPmT17NuPGjSs2Q7E5rl69ilarxd/f32S/v78/SUlJJZ5z9uxZvv/+e7RaLevXr+eNN97g/fff5+233y71PnPmzMHb29tYgoKCKhyrEKIUrsBuQ7HS8gsqlYoxvYMrde7YPtKZWIi6zqLkZsCAAfz555/8+eef9O/fn+TkZGvFVSqdToefnx8ff/wx3bp1Y+TIkfz3v/9l2bJlpZ4zffp0UlNTjUWGqgtR/T3QrQmuThrMzVPUKnB10vCvrk1sG5gQotqrdHJT+JdRixYt2LdvH15eXnTr1o2DBw+afY0GDRqg0Wi4fPmyyf7Lly8TEBBQ4jmBgYG0bt0ajUZj3Ne2bVuSkpJKrT1ydnbGy8vLpAghqjdvV0eWPt4NFZSb4BQ+vuzxbrLGlBCi8slN0dV4vby8WL9+Pffffz8jRoww+xpOTk5069aNqKgo4z6dTkdUVBRhYWElntOnTx/OnDmDTqcz7jt9+jSBgYE4OcnoCCGqXDbQw1CyrXvpfq0bsnJcT1wdNfokp5TjXB01rBrXk76ytpQQAguSm5UrV+Lt7X3zQmo1H3zwAR9//DGjR482+zpTp05lxYoVfPbZZ5w8eZJJkyaRmZnJuHHjABg9ejTTp083Hj9p0iRSUlKYMmUKp0+fZt26dcyePZvJkydX9qkIISyhAw4aiq6cYyuhX+uG7J0+iBkRoQT5Fu/U0znIm32vDZLERghhpFKKVsHYyYcffsh7771HUlISnTt35oMPPqBXr14A9O/fn+DgYFatWmU8fu/evbz44otER0fTuHFjxo8fzyuvvGLSVFWWtLQ0vL29SU1NlSYqISxVAGwybA/FKvPclEbJzyfjl3Xk5Os41q4XT34VjaezAwdeH4yLo3m//0KImsvc7+8KJTcffPABTz/9NC4uLnzwwQelX1Sl4rnnnqtYxFVIkhshaj6dTuGOub9zKTWHZY93Jbx9oL1DEkLYmE2Sm5CQEA4ePEj9+vUJCSl9YTqVSsXZs2crFnEVkuRGiNphzvqTLN9xlrvbB7D08W72DkcIYWPmfn9XqAI5Pj6+xG0hRB2mBQonKx+IfiFNW8nPh6++0m8/9hj3dW7E8h1niTqVTFpOPl4uMlJKCGHh8gtZWVnF9mdnZ1do+QUhRA2XA9xlKDk2vldeHowbpy95eYQGetHSz4O8Ah2bT1wu/3whRJ1Q6eRm1qxZZGRkFNuflZVl9vILQohaQA10MhQrLb9gLpVKxX2dGgHwc/TFqr25EKLasmiem5KmOD969Ci+vr4WBSWEqEFcgWhDsdLyCxVRmNzsPnOVK+lWWrlTCFGjVXjQpo+PDyqVCpVKRevWrU0SHK1WS0ZGBhMnTrRqkEIIUZrgBu50CqrH0Qs3WH8ssdJrUgkhao8KJzeLFi1CURSefPJJZs2aZTKRn5OTE8HBwaXOLiyEELZwX6dGHL1wg5+jL0pyI4SoeHIzZswYQD8svE+fPjg42HDGLiFE9ZcN3G3Y3oBdmqYiOgby9roYDifc4EJKFkG+blUfhBCi2qh0n5t+/fpx/vx5Xn/9dUaNGmVcEXzDhg2cOHHCagEKIao5HbDdUGyw/II5/Lxc6N2iPgC/HL1knyCEENVGpZOb7du306FDB/7880/Wrl1rHDl19OhRIiMjrRagEKKacwbWGIqzre/lDGvW6Iuz6c0KOxb/Ei3JjRB1XaWTm1dffZW3336bLVu2mKzGPXDgQPbt22eV4IQQNYAD8JCh2LqV2sEBHnpIX25pEg9vF4iTRk3s5XROJaXZOBAhRHVW6eTm2LFj3H///cX2+/n5cfXqVYuCEkKIivJ2c6R/G/3K4FJ7I0TdVunkpl69eiQmJhbbf+TIERo3bmxRUEKIGkQL7DYUrY3vVVAA332nLwUFxR6+r3PhhH6XqMCyeUKIWqbSyc0jjzzCK6+8QlJSEiqVCp1Ox+7du5k2bRqjR4+2ZoxCiOosB7jDUGy9/EJuLjz8sL7kFp+wb9Bt/rg7abh4I5vDCddtHIwQorqqdHIze/ZsbrvtNoKCgsjIyCA0NJS+ffvSu3dvXn/9dWvGKISozlRAS0MpPml5lXJ10jC0XQAgTVNC1GUqxcK624SEBI4fP05GRgZdunShVatW1orNZsxdMl0IUc1kZoKHh347IwPc3Ysd8kdsMuNWHqC+uxN/vjYIB00VL3glhLAZc7+/LR7b0LRpU5o2bWrpZYQQwiruaNkAX3cnrmXmsTvuGv1aN7R3SEKIKlbp5Ear1bJq1SqioqJITk5GpzOdvev333+3ODghhKgoR42aYR0C+WLfeX6JviTJjRB1UKWTmylTprBq1SqGDRtG+/btS1whXAhRB+QADxi2fwBc7BiLwfDOjfhi33k2nUjinfz2uDhq7B2SEKIKVTq5Wb16NWvWrOGee+6xZjxCiJpGC6wvsl0NdG3qQ+N6rly8kc3vp5K5p0OgvUMSQlShSve0c3JyomXLltaMRQhREzkBKw3FqZxjLb6XE6xcqS9Opd9MrVYRIcsxCFFnVTq5eemll1i8eLFMlCVEXecIjDUUR1vfyxHGjtUXx7JvNtwwod/vscmkZufbODAhRHVS6WapXbt28ccff7BhwwbatWuH4y0fNGvXrrU4OCGEqKzbAjxp5efB38kZbDqRxMPdg+wdkhCiilQ6ualXr16Ja0sJIeoYLXDMsN0BsGXf3YIC2LRJvz10aLHFM4tSqVQM79yI+ZtP8+vRS5LcCFGHWDyJX00kk/gJYUWZgGFePTKA4vPqWfFe5U/iV1TCtSz6vvcHahXse20Qfp7VYCiXEKLSzP3+lqk7hRCWUQGNDKWazQjRtL4bnYPqoVNg3V/FF/oVQtROlW6W6tKlS4lz26hUKlxcXGjZsiVjx45lwIABFgUohKjm3ICL9g6idMM7NyL6wg1+OXqJcX1C7B2OEKIKVLrmJjw8nLNnz+Lu7s6AAQMYMGAAHh4exMXF0aNHDxITExk8eDA///yzNeMVQogKGdYxELUKjiTcIOFalr3DEUJUgUrX3Fy9epWXXnqJN954w2T/22+/zfnz59m8eTORkZG89dZbDB8+3OJAhRCiMvw8XejdogG7zlzll6MXeXZg9V/cVwhhmUrX3KxZs4ZRo0YV2//II4+wZs0aAEaNGkVsbGzloxNCVH85wEOGkmPnWEpxn2HOm5+jL8ncXELUAZVOblxcXNizZ0+x/Xv27MHFRT8iQafTGbeFELWUFvjeUKrJ8gu3Cm8fgJODmr+TM1hz8AI/R19kb9w1tDpJdISojSrdLPXcc88xceJEDh06RI8ePQA4cOAAn3zyCa+99hoAmzZtonPnzlYJVAhRTTkBHxbZtum9nODDD29um8nLxZHQQE+iL6Tyyg/HjPsDvV2IjAglvL2sPSVEbWLRPDdfffUVH374obHpqU2bNjz33HM8+uijAGRnZxtHT1UnMs+NEHXLxuOJTPzycLH9heM9lz7eVRIcIWoAc7+/ZRI/SW6EqNW0OoU75v5OYmrJHYJUQIC3C7teGYhGXc0m6hFCmJBJ/IQQVUMH/G0oOhvfS6uFbdv0RWteB5/98SmlJjYACpCYmsP++BSrhCiEsL9K97nRarUsXLiQNWvWkJCQQF5ensnjKSnyQSFEnZANtDZs23r5hZwcKJwY1IzlFwCS080bwmXucUKI6q/SNTezZs1iwYIFjBw5ktTUVKZOncq//vUv1Go1M2fOtGKIQohqz9tQqiFz15OSdaeEqD0qndx89dVXrFixgpdeegkHBwdGjRrFJ598wowZM9i3b581YxRCVGfuwA1DsWWtTSX1DPEl0Nul1GWvVOhHTfUM8a3KsIQQNlTp5CYpKYkOHToA4OHhQWpqKgD33nsv69ats050QghhIY1aRWREKFDyup4KEBkRKp2JhahFKp3cNGnShMRE/Sq7LVq0YPPmzYB+rhtnZ2frRCeEEFYQ3j6QpY93JcC75KanzNxqOvugEKJSKt2h+P777ycqKopevXrx3HPP8fjjj/N///d/JCQk8OKLL1ozRiFEdZYL/NuwvRyopn/bhLcPZEhoAPvjU0hOz8HP04X98ddYuPVv3vj5OJ2b1qNFQw97hymEsAKrzXOzd+9e9u7dS6tWrYiIiLDGJW1G5rkRwooygcKcwNajpTIzwcNwMzNHS5VFq1N44v/+ZE/cNdoGevHjM71xcdRYIVAhhC2Y+/1d6ZqbW4WFhREWFmatywkhagpHYF6RbZveyxHmzbu5bSGNWsWikZ25e/FOTiamMXv9Sd4c3t7i6woh7KvCNTc7duww67i+fftWKqCqIDU3QoiitsUmM3blAQCWPd6N8PYBdo5ICFESm9Xc9O/fH5VKP6qgtLxIpVKhNXP2UCGEsLf+bfz4d9/mLN9xlpe/P0r7xl408XGzd1hCiEqq8GgpHx8fgoKCeOONN/j777+5fv16sSKzEwtRh+iAi4ZSFcsvHDigL1b+A2ra0DZ0DqpHWk4Bz39zhHytrZ+MEMJWKpzcJCYmMnfuXPbu3UuHDh0YP348e/bswcvLC29vb2MRQtQR2UATQ8m28b1ycqBnT33Jse5yCY4aNf8b1QVPFwcOJ9xg4ZbTVr2+EKLqVDi5cXJyYuTIkWzatIlTp07RsWNHnn32WYKCgvjvf/9LQUGBLeIUQlRnDlhxeIL9BPm68e6/OgKwdHscO/++YueIhBCVYdGq4E2bNmXGjBls3bqV1q1b8+6775KWlmat2IQQNYE7kG8o1XD5hYoa1jGQR3s1RVHgxW+PciU9194hCSEqqNLJTW5uLl9//TWDBw+mffv2NGjQgHXr1uHrK+uzCCFqthn3htLG35OrGblMXRONTmeV6cCEEFWkwsnN/v37mTRpEgEBAbz33nvcd999XLhwgTVr1hAeHm6LGIUQokq5OGr48NEuuDiq2fn3VZbtiLN3SEKICqjwPDdqtZqmTZsyZswYunXrVupx9913n8XB2YrMcyOEFeUCUw3bC7Dt8gtWnqG4PN8eSOCVH46hUav4ZsLtaHWKcemGniG+stimEFXM3O/vSiU35anu89xIciOEFdXg5RfKoygKU1ZH88vRS6hVULR1KtDbhciIUMLbB9o0BiHETTabxE+nk7kfhBBFOAKRRbZtei9HiIy8uW1jKpWKAW0a8svRS9za7SYpNYdJXx5m6eNdJcERopqx2sKZNYnU3AghzKHVKdwx93cSU0ueU0cFBHi7sOuVgdJEJUQVsEnNTUhIiHHphYp44YUXeP755yt8nhBC2NP++JRSExsABUhMzWF/fAphLepXXWBCiDJVKLlZtWpVpW4SHBxcqfOEEDWAAqQatr3RV2fYik4HJ0/qt9u2BTP6AFoiOd28WZDNPU4IUTUqlNz069fPVnEIIWqqLMDHsG3rDsXZ2dC+veFetu9Q7OfpYtXjhBBVw7Z/9gghRA3WM8SXQG+XUiujVOhHTfUMkclLhahOJLkRQljGDcgzFDc7x2JlGrWKyIhQoOTWNgWIjAiVzsRCVDOS3AghLKNCPwTcEdv2t7GT8PaBLH28KwHexZue+rZuIMPAhaiGasE6vkIIYVvh7QMZEhrA/vgUktNzuJqey1vrTrIvLoVLN7JpVM/V3iEKIYqQmhshhGXygP8YSp6dY7EhjVpFWIv6DO/cmPF3NqdXiC95Wh1Lt8m6U0JUN5LcCCEskw/MN5R8O8dShaYMbgXAtwcukJiabedohBBFSbOUEMIyjsC0Its2vZcjTJt2c9uOwprXp2ewL/vPpbBsWxyzhre3azxCiJtk+QVZfkEIUUl7zlzl0U/+xMlBzY7/DCix07EQwnrM/f6WZikhhKiksBb16RHsQ16BjmXbpe+NENWFJDdCCMso6Pva5Bu2bUmng3Pn9EWns/HNyqdSqZgyqDUAX+9P4HKaLMMgRHUgyY0QwjJZgJOhZNn4XtnZEBKiL9nVoxNvn5b16dZMam+EqE6qRXKzZMkSgoODcXFxoVevXuzfv9+s81avXo1KpWLEiBG2DVAIIUqhUql4wTBy6us/E0iW2hsh7M7uyc23337L1KlTiYyM5PDhw3Tq1ImhQ4eSnJxc5nnnzp1j2rRp3HnnnVUUqRCiRG7AdUOpZcsvmOuOlg3o2rQeuQU6lm0/a+9whKjz7J7cLFiwgAkTJjBu3DhCQ0NZtmwZbm5ufPrpp6Weo9Vqeeyxx5g1axbNmzevwmiFEMWogHqGUguXXzCHSqViymB935uv/jxPcrrU3ghhT3ZNbvLy8jh06BCDBw827lOr1QwePJi9e/eWet6bb76Jn58f48ePN+s+ubm5pKWlmRQhhLCmvq0a0MVQe/Ox1N4IYVd2TW6uXr2KVqvF39/fZL+/vz9JSUklnrNr1y7+7//+jxUrVph9nzlz5uDt7W0sQUFBFsUthCgiD5hpKLV4+YXy6EdO6fvefPnnea6k59o5IiHqLrs3S1VEeno6TzzxBCtWrKBBgwZmnzd9+nRSU1ON5cKFCzaMUog6Jh+YZSh1aPmFkvRr3ZBOQfXIydfx8Q4ZOSWEvdh1+YUGDRqg0Wi4fPmyyf7Lly8TEBBQ7Pi4uDjOnTtHRESEcZ/OMNeFg4MDsbGxtGjRoth5zs7OODs7Wzl6IQSg/xR5psi2Te/lAM88c3O7mlGpVLwwqBXjVh3gi33n+Xe/FjTwkM8eIaqaXWtunJyc6NatG1FRUcZ9Op2OqKgowsLCih1/2223cezYMaKjo43lvvvuY8CAAURHR0tzkxD24AwsMRRbf487O8OSJfpSTf9g6d+mIZ2aeJOTr2PFDul7I4Q92P1Pn6lTpzJmzBi6d+9Oz549WbRoEZmZmYwbNw6A0aNH07hxY+bMmYOLiwvt25suTlevXj2AYvuFEMIe9COnWvHkqoN8vvc8T/dtTn2pvRGiStk9uRk5ciRXrlxhxowZJCUl0blzZzZu3GjsZJyQkIBaXaO6BgkhbEVR4OpV/XaDBqCqnmPPB7Txo2MTb/76J5WPd55l+t1t7R2SEHWKrAouq4ILYZlM9HPcANwA3G15r0zw8NBvZ2SAuy1vZpmtMZd56vODuDlp2PXKQHzdnewdkhA1nqwKLoSoOgWGIowGtfWjfWMvsvK0rNgpfW+EqEqS3AghLOMK/GMornaOpRopumL4Z3vOkZJZhycBEqKK2b3PjRCihlMDje0dRPU0uK0f7Rp5ceJSGh/viKNfaz+S03Pw83ShZ4gvGnX17DMkRE0nfW6kz40QNUcN6nNTaPOJJJ7+4hAqoOiHbaC3C5ERoYS3D7RXaELUONLnRghRNfKA9wxFWl6K0er0Kc2tf0UmpeYw6cvDbDyeWPVBCVHLSXIjhLBMPvCyodTx5RdupdUpvPlbTImPFSY7s36NMSZAQgjrkD43QgjLOABjimzb9F4OMGbMze1qbn98CompOaU+rgCJqTnsj08hrEX9qgtMiFqu+n86CCGqN2dgVVXdyxlWVdXNLJecXnpiU5njhBDmkWYpIYSwET9PF6seJ4QwjyQ3QoiaQ1H0I6YyM/Xb1VzPEF8CvV0oa8C3t6sjPUN8qywmIeoCSW6EEJYpXH6hnmHblrKy9EPBPTz029WcRq0iMiIUoNQEJzU7nzd+Pk5ugbbqAhOilpPkRghhuVRDEcWEtw9k6eNdCfA2bXoK9Hbhvk6BqFTw9Z8JPPLxPpLK6HwshDCfTOInk/gJYRkdEGfYboFt/2SqgZP4FdLqFPbHpxSbofiP2GSmfHOEtJwCGng489FjXaWZSohSmPv9LcmNJDdC1Bw1OLkpy/lrmfz7i0OcSkrHQa3i9WFtGdM7GJVKlmcQoiiZoVgIIWqIZvXdWftMb+7r1IgCncLMX2N4ac1RcvL1/XC0OoW9cdf4Ofoie+OuyaR/QpRD5rkRQlgmH/jYsP004GjHWGowNycHFj/SmY5NvJmz4RRrj1wk9nI6o3o2ZckfZ0wmA5R1qYQomzRLSbOUEJbJBAwtRWQAtmwpqqXNUrfaE3eV574+wrXMkhfrKmysWvp4V0lwRJ0izVJCiKqhAR40FI2t76WBBx/UF42tb2Y/vVs04KfJfXDUlNznRtalEqJs0iwlhLCMC/BdVd3LBb6rqpvZ1z/Xs8nXlp64yLpUQpROam6EEKIaknWphKg8SW6EEKIaknWphKg8SW6EEJbJAhobiq1XRMjMBJVKXzJtvdaDfZW3LpUK/agpmfBPiOIkuRFCWEYBLhmK9G21GnPWpYqMCEWjlon+hLiVJDdCCMu4AEcMRVpIrKq0dakAhrb3l2HgQpRCRksJISyjATrbO4jaK7x9IENCA4zrUp2/lsWCLafZHnuVK+m5NPR0tneIQlQ7ktwIIUQ1p1GrjMO9FUUh6lQyRy/cYMkfZ5h5Xzs7RydE9SPNUkIIy+QDqwwl366R1AkqlYqXh7YB4Ks/z/PPdVv34hai5pHkRghhmTxgnKGUvFqAsLI+LRvQp2V98rUKi7b+be9whKh2JLkRQlhGA9xjKFWx/MI99+hLLV5+wRzT7tLX3qw9/A9nktPtHI0Q1YskN0IIy7gA6wzF1qOlXFxg3Tp9canbQ7O6NPXhrlB/dAq8v/m0vcMRolqR5EYIIWqol+5qg0oFG44n8dc/N+wdjhDVhiQ3QghRQ7UJ8OT+zo0BeG9TrJ2jEaL6kORGCGGZLKCVoVTF8gvu7vpSy5dfMNcLg1vjoFax8++r7I27Zu9whKgWJLkRQlhGAc4YSlUsv5CVpS8CgKb13RjVsykA7206haLIGhhCSHIjhLCMC7DLUOp2H1+7eW5gS1wc1RxOuMHvp5LtHY4QdifJjRDCMhqgj6HU7dHZduPn5cLY3iGAvu+NTie1N6Juk+RGCCFqgYn9muPp4sCppHR+/euSvcMRwq4kuRFCWKYA+M5QCuwcSx1Wz82Jf/dtDsCCLafJ1+rsHJEQ9iPJjRDCMrnAw4aSa+dY6rhxfUJo4OHE+WtZfHfwH3uHI4TdSHIjhLCMGuhnKLb+RFGroV8/fVHLx9et3J0dmDygJQCLo06Tk6+1c0RC2Id8OgghLOMKbDMUV1vfyxW2bdMXV1vfrGZ6tFdTGtdz5XJaLl/sPW/vcISwC0luhBCiFnF20DBlcCsAPtp2hvScfDtHJETVk+RGCCFqmX91aUyLhu5cz8rnk53x9g5HiConyY0QwjLZQGdDybbxvTIzoWFDfZHlF0rloFHz0l1tAPhk51muZdivp7dWp7A37ho/R19kb9w1tDIHj6gCDvYOQAhRw+mAo0W2be3q1Sq4Sc0X3i6A9o29OH4xjSV/nGFIaADJ6Tn4ebrQM8QXjVpl8xg2Hk9k1q8xJKbmGPcFersQGRFKePtAm99f1F0qpQ4uRJKWloa3tzepqal4eXnZOxwhajYt8LtheyC2naU4MxM8PPTbGRn6BTRFqbafvsKYT/cX218VCcbG44lM+vJwseXGClOqpY93lQRHVJi539/SLCWEsIwGGGIosvxCtZKVW/KsikmpOUz68jAbjyeWe43KNCtpdQqzfo0pcR3Vwn2zfo2RJiphM9IsJYQQtZBWp/DmbzElPqagr0GZ9WsMQ0IDSm2iqmizUoFWx7lrWfz21yWTc0q6f2JqDvvjUwhrUb8iT0sIs0hyI4SwTAGwybA9FPlUqSb2x6eYlWC8vS6GsOb1CfR2xd/bmQbuzqjVqlKblQprfWb/qwOB3i6cvpzOqaR0YpPS+Ts5g7wC8zteJaeXHp8QlpCPISGEZXKBew3bGcinSjVhbuKwcvc5Vu4+Z/zZUaOioYczVzJyy2xWmr72WInXc3XU0Mjbhbir5Y9m8/N0MStGISpKPoaEEJZRA92LbNv0Xmro3v3mtiiVuYlDj2Af8gp0JKXlkJyeS75W4VIZNT5FNfJ2oUtTH9oEeOqLvydNfd1QgDvm/k5Sak6JCZIKCPDWj9oSwhYkuRFCWMYVOFBV93KFA1V1s5qtZ4gvgd4u5SYYq58OM/a5ydfquJKey3eHLrBwy9/l3uOVu29jeOfGJT4WGRHKpC8Po4Ji91cMj1fFcHRRN8mfPkIIUQtp1CoiI0KBm8OvCxX+fGuC4ahR06ieKz2DzevkW1btUHj7QJY+3pUA75KP0VbFnEiizpKaGyGEqKUKE4xbRzwFlDPPjbm1PuU1K4W3D2RIaAD741OMEwju/PsKH22LY/rav+jStB6N6skCqML6ZBI/mcRPCMtkA4MN21ux7crgWVkQqq+NICYG3NxseLPaQ6tTTBIMc2YoLhwtBabNSpZOwpev1fHg0j0c/SeV25v78tVTt0vzlDCbTOInhKgaOmCPodi6qUFR4Px5fal7f5dVmkatIqxFfYZ3bkxYi/pmJROlNSsFeLtYNLuwo0bNoke64OakYd/ZFFbsPFup6whRFmmWEkJYxhn4sci2qDVKalayxrpUIQ3ciYwI5ZUfjvH+5ljuaNmA9o29rRS1EFJzI4SwlAMwwlDkz6VapzK1PuZ4uHsQ4e0CyNcqPL/6CNl5WqtcVwiQ5EYIIYQdqFQq5vyrA/5ezpy9ksnb60peKkKIypDkRghhGS2wzVDkj29RAT7uTrz/UGcAvvozga0xl616/cos+ilqB6lEFkJYJgcYYNjOANztGIuoce5o1YAJd4awYmc8L//wFxuD7rTKsgwVXfRT1C5ScyOEsIwKCDUUW4/oVan0Q8FDQ/XbolaYNrQNbQO9SMnM4z/f/YWlM5QUDmO/deHQwkU/Nx5PtOj6ovqT5EYIYRk34ISh2HraGTc3OHFCX2SOm1rD2UHDB490xtlBzfbTV/hsz7lKX0urU5j1a0yZi37O+jVGmqhqOUluhBBC2F0rf0/+O6wtALM3nCI2Kb1S19kfn1KsxqYoBUhMzWF/fEqlri9qBkluhBBCVAtP3N6MAW0aklegY8rqI+Tkm99DXVEU/jx7jfc3x5p1fHK6eSufV5Z0ZrYv6VAshLBMNnCfYfsXbL/8Qo8e+u0DB6RpqpZRqVTMe7AT4Yt2cCopnbkbT3FXaECZEwimZObxw6F/+OZAAmevZJp9L2t0Wi6NdGa2P1lbStaWEsIymYCHYdvWo6UyM8HDcLOMDHCXoVm10e+nLvPkqoPF9hcmCHeFBrD37DW+2Z/AphNJ5Gv1X2NuThru7RhI1MlkUjLzSux3A/p+70sf60p4B+snGoWdmW+9t6Vrcgk9c7+/peZGCGEZZ+DLIttCWCivoORFyhJTc5j45WEaejhxJSPPuL9jE28e6dGU+zo3wsPZwZhgqKDUjsUTvzrMpP4teGlIaxw01umhUV5nZhX6zsxDQgNksVAbk+RGCGEZB+AxewchaovCBKEsVzLycHfScH/XxjzSo2mxdakKF/0sqWnotXvacjjhOit3n2PptjiiE27wwaguNPS0PDOvSGfmsBb1Lb6fKF216FC8ZMkSgoODcXFxoVevXuzfv7/UY1esWMGdd96Jj48PPj4+DB48uMzjhRBC1BzlJQiFljzWlbdHdCh1wc3w9oHsemUg30y4ncWPdOabCbez65WBRHRqRGREOz58tAvuThr2nr3GsA92cuCcZaOnktNz+HSXeSucv/HzMb7Yd54r6bmlHiMdki1j95qbb7/9lqlTp7Js2TJ69erFokWLGDp0KLGxsfj5+RU7ftu2bYwaNYrevXvj4uLC3Llzueuuuzhx4gSNGze2wzMQoo7TAocN210BjR1jETWeuaOYUrPzyz2mcNHPktzbsRG3BXgy8cvDnEnO4JGP9zH97tsYf0cIqgpMEBl/NZOPd5zlh8P/lNqcdqszyZm88dNxIn8+Tq+Q+tzTMZDwdgHG2iPpkGw5u3co7tWrFz169ODDDz8EQKfTERQUxHPPPcerr75a7vlarRYfHx8+/PBDRo8ebdY9pUOxEFYkHYqFFe2Nu8aoFfvKPe6bCbdbpWknM7eA6WuP8cvRSwDc0yGAuQ90xM3Jgf3xKaWO1Dp64QbLtsex8UQShd+iXYK8OXctixtZ+SX2u1EBDT2dGX9HCOuPJ3H0wg3jY2oV3N68Ps3qu/HN/gslngvSIblGdCjOy8vj0KFDTJ8+3bhPrVYzePBg9u7da9Y1srKyyM/Px9fXt9RjcnNzyc29Wf2XlpZW+aCFEKZUQLMi2za9lwqaNbu5LWqdniG+BHq7kJSaU2qCEOCtTzaswd3ZgcWPdKZbMx/eXhfD+mNJHDp3Ha2icLVIp+VAbxdm3BuKq5OGZdvj2Hf2ZjPWoNv8mNi/Bd2b+bDpRFKJnZkL361vDm9HePtA/t2vBRdSsthwPJF1fyVy9J9U9sRdY0/ctRLjlA7JFWPX5Obq1atotVr8/f1N9vv7+3Pq1CmzrvHKK6/QqFEjBg8eXOoxc+bMYdasWRbFKoQohRtwrqru5Qbnqupmwh40ahWREaFlJgiREaFW/XJXqVSM6R1MhybePLnqAJdL6AuTmJrDpK8OG392UKsY3rkxT/dtTpsAT+P+0jozB5TQrBTk68bTfVvwdF99orN02xm+LqHWppB0SDaf3fvcWOLdd99l9erVbNu2DReX0idkmj59OlOnTjX+nJaWRlBQUFWEKIQQooIqkiBYU6cm9XAqZ1i4ChjXJ5in7mxOo3olz1gZ3j6QIaEBZTZr3SrI141ezeuXmdwU+v7QBUIauBPgXfL3nlanVOjetZFdk5sGDRqg0Wi4fPmyyf7Lly8TEBBQ5rnz58/n3XffZevWrXTs2LHMY52dnXF2lgk4hBCipqhMgmAp/b1KH8EE+tqTIaEBpSY2hcrqzFwac2dN/uHwRX44fJHuzXy4u0Mgd7e/GY90Rtaza3Lj5OREt27diIqKYsSIEYC+Q3FUVBTPPvtsqefNmzePd955h02bNtG9e/cqilYIUaIc4BHD9mrAdrPaQ3Y29O2r396xA1xtudaDsLfKJAiWMHeklq3WpSqvvxGAl4sDLf08OJxwg4Pnr3Pw/HXe+i2GLk3r0byBOz8cvljsnKTUHCZ9ebhOdUa2e7PU1KlTGTNmDN27d6dnz54sWrSIzMxMxo0bB8Do0aNp3Lgxc+bMAWDu3LnMmDGDr7/+muDgYJKSkgDw8PDAo3AUhRCi6miBn4ts25JOBwcP3twWworMrTmx1bpU5vQ3mvdgR8LbB5KUmsOG44lsOJbEgfMpHEm4wZGEGyVety52Rrb7JH4jR45k/vz5zJgxg86dOxMdHc3GjRuNnYwTEhJITEw0Hr906VLy8vJ48MEHCQwMNJb58+fb6ykIUbc5AR8bipOdYxHCAoU1J6V99avQN/FYa6RWSQr7G93anybA28Wk5iXA24VxfUJYMzGMP6cP4sk+wWVet2hn5LrA7vPc2IPMcyNEDSXz3AgbK1yXCkquOamqpp2Kdgr+OfoiU1ZHl3vdxY90Znjnmjvhrbnf33avuRFCCCGqC3NrTmytsL/R8M6NCWtRv9ymJHObyo5fTKVAW/ubdO3e50YIUcPpgJOG7bbIn0yixrPHSC1LmdMZGWDFzni2n77Cq3ffxoA2fhVaaqImkWYpaZYSwjKy/IIQ1UJ5TWoPdGvC1pOXuZGlX5crrHl9XrunLR2amC4+Wp3nyTH3+1uSG0luhLBMJhBs2D6H7ZObYMPNzp2T5EaIW5Q3z01qVj4fbTvDyj3njAt9jujciJfuakOQr1u1nydHkpsySHIjhBCitjKn5uWf61nM3xTLT9H6BUOdNGr6tWnI1pjLxZq1KtKZ2ta1PpLclEGSGyGEEAKO/ZPK7PUn2Xu25AU7CxUuWLrrlYGlJitVUesjo6WEEEIIUaYOTbz5ekIvXh7auszjCufJiTp5mZLqRAr7+xRNbODm7MgbjycWO8eWZLSUEMIyOcB4w/b/YfvlF+6+W7+9YYMsvyCEFahUKhr7uJl17NNfHMJRo6KhhzMNvVzw83SmgYcTvx5NLHGUlr1mR5bkRghhGS3wtWH7YxvfS6eD7dtvbgshrKIiS0rkaxUupeZwKdW8NbaKzo5cVWuFSXIjhLCME7CwyLYQosYpb56cwj43v7/Un+tZeSSn55KclkNyei47/77KphNJ5d7DVguOlkSSGyGEZRyBF+wdhBDCEuYs2hkZEYqrkwZXJ1ca1bvZJNyioYdZyY2tFhwtiXQoFkIIIUSll56oDguO3kpqboQQltEBCYbtpsifTELUYJVZesLcWp+qnOVYkhshhGWygRDDtq2XXxBC2Fzhop0VUVjrc+s8NwF2mt1YkhshhOXMG0VqpXtV5c2EEOaqTguOSnIjhLCMO/r1parkXu769aWEENVSZWp9bEFax4UQQghRq0hyI4QQQohaRZIbIYRlcoEJhpJr43vl5MCwYfqSU3UTggkhahbpcyOEsEwB8IlhexHgbMN7abWwfv3NbSGEKIEkN0IIyzgCbxfZFkIIO5PkRghhGSfgv/YOQgghbpI+N0IIIYSoVaTmRghhGQW4athuAKUuMCOEEFVEkhshhGWyAD/Dtiy/IISoBupkcqMo+mW90tLS7ByJELVA0QmD0wBbDmIqOjtxWpqMmBKijin83i78Hi9NnUxu0tPTAQgKCrJzJELUMo2q8l5VeTMhRHWSnp6Ot7d3qY+rlPLSn1pIp9Nx6dIlPD09Uams10EgLS2NoKAgLly4gJeXl9WuWxvJa1Ux8nqZT14r88lrZT55rcxny9dKURTS09Np1KgRanXpY6LqZM2NWq2mSZMmNru+l5eXvPnNJK9VxcjrZT55rcwnr5X55LUyn61eq7JqbArJUHAhhBBC1CqS3AghhBCiVpHkxoqcnZ2JjIzE2dmWi+vUDvJaVYy8XuaT18p88lqZT14r81WH16pOdigWQgghRO0lNTdCCCGEqFUkuRFCCCFErSLJjRBCCCFqFUluhBBCCFGrSHJTATt27CAiIoJGjRqhUqn46aefyj1n27ZtdO3aFWdnZ1q2bMmqVatsHmd1UNHXatu2bahUqmIlKSmpagK2ozlz5tCjRw88PT3x8/NjxIgRxMbGlnved999x2233YaLiwsdOnRg/fr1VRCtfVXmtVq1alWx95WLi0sVRWw/S5cupWPHjsaJ1MLCwtiwYUOZ59TF9xRU/LWqq++pkrz77ruoVCpeeOGFMo+r6veWJDcVkJmZSadOnViyZIlZx8fHxzNs2DAGDBhAdHQ0L7zwAk899RSbNm2ycaT2V9HXqlBsbCyJiYnG4ufnV/5JNdz27duZPHky+/btY8uWLeTn53PXXXeRWXSRyFvs2bOHUaNGMX78eI4cOcKIESMYMWIEx48fr8LIq15lXivQz5Ra9H11/vz5KorYfpo0acK7777LoUOHOHjwIAMHDmT48OGcOHGixOPr6nsKKv5aQd18T93qwIEDLF++nI4dO5Z5nF3eW4qoFED58ccfyzzm5ZdfVtq1a2eyb+TIkcrQoUNtGFn1Y85r9ccffyiAcv369SqJqTpLTk5WAGX79u2lHvPwww8rw4YNM9nXq1cv5d///retw6tWzHmtVq5cqXh7e1ddUNWYj4+P8sknn5T4mLynTJX1Wsl7SlHS09OVVq1aKVu2bFH69eunTJkypdRj7fHekpobG9q7dy+DBw822Td06FD27t1rp4iqv86dOxMYGMiQIUPYvXu3vcOxi9TUVAB8fX1LPUbeW3rmvFYAGRkZNGvWjKCgoHL/Iq+NtFotq1evJjMzk7CwsBKPkfeUnjmvFch7avLkyQwbNqzYe6Yk9nhv1cmFM6tKUlIS/v7+Jvv8/f1JS0sjOzsbV1dXO0VW/QQGBrJs2TK6d+9Obm4un3zyCf379+fPP/+ka9eu9g6vyuh0Ol544QX69OlD+/btSz2utPdWXeijVMjc16pNmzZ8+umndOzYkdTUVObPn0/v3r05ceKETRfQrQ6OHTtGWFgYOTk5eHh48OOPPxIaGlrisXX9PVWR16ouv6cAVq9ezeHDhzlw4IBZx9vjvSXJjagW2rRpQ5s2bYw/9+7dm7i4OBYuXMgXX3xhx8iq1uTJkzl+/Di7du2ydyjVnrmvVVhYmMlf4L1796Zt27YsX76ct956y9Zh2lWbNm2Ijo4mNTWV77//njFjxrB9+/ZSv7Trsoq8VnX5PXXhwgWmTJnCli1bqnUnaklubCggIIDLly+b7Lt8+TJeXl5Sa2OGnj171qkv+WeffZbffvuNHTt2lPvXX2nvrYCAAFuGWG1U5LW6laOjI126dOHMmTM2iq76cHJyomXLlgB069aNAwcOsHjxYpYvX17s2Lr+nqrIa3WruvSeOnToEMnJySY16lqtlh07dvDhhx+Sm5uLRqMxOcce7y3pc2NDYWFhREVFmezbsmVLme244qbo6GgCAwPtHYbNKYrCs88+y48//sjvv/9OSEhIuefU1fdWZV6rW2m1Wo4dO1Yn3lu30ul05ObmlvhYXX1Plaas1+pWdek9NWjQII4dO0Z0dLSxdO/enccee4zo6OhiiQ3Y6b1ls67KtVB6erpy5MgR5ciRIwqgLFiwQDly5Ihy/vx5RVEU5dVXX1WeeOIJ4/Fnz55V3NzclP/85z/KyZMnlSVLligajUbZuHGjvZ5Clanoa7Vw4ULlp59+Uv7++2/l2LFjypQpUxS1Wq1s3brVXk+hykyaNEnx9vZWtm3bpiQmJhpLVlaW8ZgnnnhCefXVV40/7969W3FwcFDmz5+vnDx5UomMjFQcHR2VY8eO2eMpVJnKvFazZs1SNm3apMTFxSmHDh1SHnnkEcXFxUU5ceKEPZ5ClXn11VeV7du3K/Hx8cpff/2lvPrqq4pKpVI2b96sKIq8p4qq6GtVV99Tpbl1tFR1eG9JclMBhcOVby1jxoxRFEVRxowZo/Tr16/YOZ07d1acnJyU5s2bKytXrqzyuO2hoq/V3LlzlRYtWiguLi6Kr6+v0r9/f+X333+3T/BVrKTXCTB5r/Tr18/42hVas2aN0rp1a8XJyUlp166dsm7duqoN3A4q81q98MILStOmTRUnJyfF399fueeee5TDhw9XffBV7Mknn1SaNWumODk5KQ0bNlQGDRpk/LJWFHlPFVXR16quvqdKc2tyUx3eWypFURTb1QsJIYQQQlQt6XMjhBBCiFpFkhshhBBC1CqS3AghhBCiVpHkRgghhBC1iiQ3QgghhKhVJLkRQgghRK0iyY0QQgghahVJboQQQghRq0hyI4QQQohaRZIbIUS5VCpVmWXmzJn2DtHqgoODWbRokb3DEEJUgoO9AxBCVH+JiYnG7W+//ZYZM2YQGxtr3Ofh4WGPsCpMURS0Wi0ODlX30ZeXl4eTk1OV3U8IITU3QggzBAQEGIu3tzcqlcpk3+rVq2nbti0uLi7cdtttfPTRR8Zzz507h0qlYs2aNdx55524urrSo0cPTp8+zYEDB+jevTseHh7cfffdXLlyxXje2LFjGTFiBLNmzaJhw4Z4eXkxceJE8vLyjMfodDrmzJlDSEgIrq6udOrUie+//974+LZt21CpVGzYsIFu3brh7OzMrl27iIuLY/jw4fj7++Ph4UGPHj3YunWr8bz+/ftz/vx5XnzxRWPtFMDMmTPp3LmzyWuzaNEigoODi8X9zjvv0KhRI9q0aQPAhQsXePjhh6lXrx6+vr4MHz6cc+fOWeO/RwhxC0luhBAW+eqrr5gxYwbvvPMOJ0+eZPbs2bzxxht89tlnJsdFRkby+uuvc/jwYRwcHHj00Ud5+eWXWbx4MTt37uTMmTPMmDHD5JyoqChOnjzJtm3b+Oabb1i7di2zZs0yPj5nzhw+//xzli1bxokTJ3jxxRd5/PHH2b59u8l1Xn31Vd59911OnjxJx44dycjI4J577iEqKoojR44QHh5OREQECQkJAKxdu5YmTZrw5ptvkpiYaFJzZY6oqChiY2PZsmULv/32G/n5+QwdOhRPT0927tzJ7t278fDwIDw83CRZE0JYiU3XHBdC1DorV65UvL29jT+3aNFC+frrr02Oeeutt5SwsDBFURQlPj5eAZRPPvnE+Pg333yjAEpUVJRx35w5c5Q2bdoYfx4zZozi6+urZGZmGvctXbpU8fDwULRarZKTk6O4ubkpe/bsMbn3+PHjlVGjRimKoih//PGHAig//fRTuc+rXbt2yv/+9z/jz82aNVMWLlxockxkZKTSqVMnk30LFy5UmjVrZhK3v7+/kpuba9z3xRdfKG3atFF0Op1xX25uruLq6qps2rSp3NiEEBUjfW6EEJWWmZlJXFwc48ePZ8KECcb9BQUFeHt7mxzbsWNH47a/vz8AHTp0MNmXnJxsck6nTp1wc3Mz/hwWFkZGRgYXLlwgIyODrKwshgwZYnJOXl4eXbp0MdnXvXt3k58zMjKYOXMm69atIzExkYKCArKzs401N5bq0KGDST+bo0ePcubMGTw9PU2Oy8nJIS4uzir3FELcJMmNEKLSMjIyAFixYgW9evUyeUyj0Zj87OjoaNwu7MNy6z6dTlfhe69bt47GjRubPObs7Gzys7u7u8nP06ZNY8uWLcyfP5+WLVvi6urKgw8+WG4TkVqtRlEUk335+fnFjrv1fhkZGXTr1o2vvvqq2LENGzYs855CiIqT5EYIUWn+/v40atSIs2fP8thjj1n9+kePHiU7OxtXV1cA9u3bh4eHB0FBQfj6+uLs7ExCQgL9+vWr0HV3797N2LFjuf/++wF98nFr514nJye0Wq3JvoYNG5KUlISiKMYELTo6utz7de3alW+//RY/Pz+8vLwqFKsQouKkQ7EQwiKzZs1izpw5fPDBB5w+fZpjx46xcuVKFixYYPG18/LyGD9+PDExMaxfv57IyEieffZZ1Go1np6eTJs2jRdffJHPPvuMuLg4Dh8+zP/+979inZlv1apVK9auXUt0dDRHjx7l0UcfLVZrFBwczI4dO7h48SJXr14F9KOorly5wrx584iLi2PJkiVs2LCh3Ofx2GOP0aBBA4YPH87OnTuJj49n27ZtPP/88/zzzz+Vf4GEECWS5EYIYZGnnnqKTz75hJUrV9KhQwf69evHqlWrCAkJsfjagwYNolWrVvTt25eRI0dy3333mUwY+NZbb/HGG28wZ84c2rZtS3h4OOvWrSv33gsWLMDHx4fevXsTERHB0KFD6dq1q8kxb775JufOnaNFixbGpqO2bdvy0UcfsWTJEjp16sT+/fuZNm1auc/Dzc2NHTt20LRpU/71r3/Rtm1bxo8fT05OjtTkCGEDKuXWBmQhhKgGxo4dy40bN/jpp5/sHYoQooaRmhshhBBC1CqS3AghhBCiVpFmKSGEEELUKlJzI4QQQohaRZIbIYQQQtQqktwIIYQQolaR5EYIIYQQtYokN0IIIYSoVSS5EUIIIUStIsmNEEIIIWoVSW6EEEIIUav8Pzi/R0w3Xqur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pic>
        <p:nvPicPr>
          <p:cNvPr id="11" name="圖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5319" y="1171530"/>
            <a:ext cx="4820617" cy="897694"/>
          </a:xfrm>
          <a:prstGeom prst="rect">
            <a:avLst/>
          </a:prstGeom>
        </p:spPr>
      </p:pic>
      <p:sp>
        <p:nvSpPr>
          <p:cNvPr id="12" name="內容版面配置區 2"/>
          <p:cNvSpPr txBox="1">
            <a:spLocks/>
          </p:cNvSpPr>
          <p:nvPr/>
        </p:nvSpPr>
        <p:spPr>
          <a:xfrm>
            <a:off x="677333" y="2160589"/>
            <a:ext cx="8957173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en-US" altLang="zh-TW" dirty="0"/>
              <a:t> </a:t>
            </a:r>
            <a:r>
              <a:rPr lang="en-US" altLang="zh-TW" dirty="0" smtClean="0"/>
              <a:t>   	</a:t>
            </a:r>
            <a:r>
              <a:rPr lang="zh-TW" altLang="en-US" dirty="0" smtClean="0"/>
              <a:t>  </a:t>
            </a:r>
            <a:endParaRPr lang="en-US" altLang="zh-TW" dirty="0"/>
          </a:p>
        </p:txBody>
      </p:sp>
      <p:sp>
        <p:nvSpPr>
          <p:cNvPr id="13" name="內容版面配置區 2"/>
          <p:cNvSpPr txBox="1">
            <a:spLocks/>
          </p:cNvSpPr>
          <p:nvPr/>
        </p:nvSpPr>
        <p:spPr>
          <a:xfrm>
            <a:off x="829733" y="2312989"/>
            <a:ext cx="6104467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 smtClean="0"/>
              <a:t>在</a:t>
            </a:r>
            <a:r>
              <a:rPr lang="zh-TW" altLang="en-US" dirty="0"/>
              <a:t>低溫狀態下，初始的磁化率會接近</a:t>
            </a:r>
            <a:r>
              <a:rPr lang="en-US" altLang="zh-TW" dirty="0"/>
              <a:t>1</a:t>
            </a:r>
            <a:r>
              <a:rPr lang="zh-TW" altLang="en-US" dirty="0"/>
              <a:t>，即幾乎同</a:t>
            </a:r>
            <a:r>
              <a:rPr lang="zh-TW" altLang="en-US" dirty="0" smtClean="0"/>
              <a:t>向，</a:t>
            </a:r>
            <a:r>
              <a:rPr lang="zh-TW" altLang="en-US" dirty="0"/>
              <a:t>是最穩定的狀態；而高溫狀態下，磁化率接近</a:t>
            </a:r>
            <a:r>
              <a:rPr lang="en-US" altLang="zh-TW" dirty="0"/>
              <a:t>0</a:t>
            </a:r>
            <a:r>
              <a:rPr lang="zh-TW" altLang="en-US" dirty="0"/>
              <a:t>，是最混亂的</a:t>
            </a:r>
            <a:r>
              <a:rPr lang="zh-TW" altLang="en-US" dirty="0" smtClean="0"/>
              <a:t>狀態</a:t>
            </a:r>
            <a:endParaRPr lang="en-US" altLang="zh-TW" dirty="0" smtClean="0"/>
          </a:p>
          <a:p>
            <a:r>
              <a:rPr lang="zh-TW" altLang="en-US" dirty="0" smtClean="0"/>
              <a:t>此結果足夠驗證程式對系統的還原，以及分析邏輯可以延續進行後續分析</a:t>
            </a:r>
            <a:endParaRPr lang="en-US" altLang="zh-TW" dirty="0" smtClean="0"/>
          </a:p>
          <a:p>
            <a:pPr marL="0" indent="0">
              <a:buNone/>
            </a:pPr>
            <a:endParaRPr lang="en-US" altLang="zh-TW" dirty="0" smtClean="0"/>
          </a:p>
          <a:p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6765820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參數調整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後續比對了</a:t>
            </a:r>
            <a:r>
              <a:rPr lang="en-US" altLang="zh-TW" dirty="0" smtClean="0"/>
              <a:t>20</a:t>
            </a:r>
            <a:r>
              <a:rPr lang="zh-TW" altLang="en-US" dirty="0" smtClean="0"/>
              <a:t>*</a:t>
            </a:r>
            <a:r>
              <a:rPr lang="en-US" altLang="zh-TW" dirty="0" smtClean="0"/>
              <a:t>20</a:t>
            </a:r>
            <a:r>
              <a:rPr lang="zh-TW" altLang="en-US" dirty="0" smtClean="0"/>
              <a:t>、</a:t>
            </a:r>
            <a:r>
              <a:rPr lang="en-US" altLang="zh-TW" dirty="0" smtClean="0"/>
              <a:t>30</a:t>
            </a:r>
            <a:r>
              <a:rPr lang="zh-TW" altLang="en-US" dirty="0" smtClean="0"/>
              <a:t>*</a:t>
            </a:r>
            <a:r>
              <a:rPr lang="en-US" altLang="zh-TW" dirty="0" smtClean="0"/>
              <a:t>30</a:t>
            </a:r>
            <a:r>
              <a:rPr lang="zh-TW" altLang="en-US" dirty="0" smtClean="0"/>
              <a:t>，發現臨界溫度逐漸降低，越來越貼近理論解，推測其範圍較為穩定。所以降低溫度變化與範圍</a:t>
            </a:r>
            <a:r>
              <a:rPr lang="en-US" altLang="zh-TW" dirty="0" smtClean="0"/>
              <a:t>(</a:t>
            </a:r>
            <a:r>
              <a:rPr lang="zh-TW" altLang="en-US" dirty="0" smtClean="0"/>
              <a:t>原本是</a:t>
            </a:r>
            <a:r>
              <a:rPr lang="en-US" altLang="zh-TW" dirty="0" smtClean="0"/>
              <a:t>1~4</a:t>
            </a:r>
            <a:r>
              <a:rPr lang="zh-TW" altLang="en-US" dirty="0" smtClean="0"/>
              <a:t>，改為</a:t>
            </a:r>
            <a:r>
              <a:rPr lang="en-US" altLang="zh-TW" dirty="0" smtClean="0"/>
              <a:t>2.2~2.7)</a:t>
            </a:r>
            <a:r>
              <a:rPr lang="zh-TW" altLang="en-US" dirty="0" smtClean="0"/>
              <a:t>，可以進行更為深入且龐大的運行，預計跑至</a:t>
            </a:r>
            <a:r>
              <a:rPr lang="en-US" altLang="zh-TW" dirty="0" smtClean="0"/>
              <a:t>80</a:t>
            </a:r>
            <a:r>
              <a:rPr lang="zh-TW" altLang="en-US" dirty="0" smtClean="0"/>
              <a:t>*</a:t>
            </a:r>
            <a:r>
              <a:rPr lang="en-US" altLang="zh-TW" dirty="0" smtClean="0"/>
              <a:t>80</a:t>
            </a:r>
            <a:r>
              <a:rPr lang="zh-TW" altLang="en-US" dirty="0" smtClean="0"/>
              <a:t>並分析其結果</a:t>
            </a:r>
            <a:endParaRPr lang="en-US" altLang="zh-TW" dirty="0" smtClean="0"/>
          </a:p>
          <a:p>
            <a:r>
              <a:rPr lang="zh-TW" altLang="en-US" dirty="0" smtClean="0"/>
              <a:t>在</a:t>
            </a:r>
            <a:r>
              <a:rPr lang="en-US" altLang="zh-TW" dirty="0" smtClean="0"/>
              <a:t>60</a:t>
            </a:r>
            <a:r>
              <a:rPr lang="zh-TW" altLang="en-US" dirty="0" smtClean="0"/>
              <a:t>*</a:t>
            </a:r>
            <a:r>
              <a:rPr lang="en-US" altLang="zh-TW" dirty="0" smtClean="0"/>
              <a:t>60</a:t>
            </a:r>
            <a:r>
              <a:rPr lang="zh-TW" altLang="en-US" dirty="0" smtClean="0"/>
              <a:t>以及往後，考量到版圖過大，步數太少可能無法完成運作，所以大幅提升步數</a:t>
            </a:r>
            <a:r>
              <a:rPr lang="en-US" altLang="zh-TW" dirty="0" smtClean="0"/>
              <a:t>(</a:t>
            </a:r>
            <a:r>
              <a:rPr lang="zh-TW" altLang="en-US" dirty="0" smtClean="0"/>
              <a:t>由</a:t>
            </a:r>
            <a:r>
              <a:rPr lang="en-US" altLang="zh-TW" dirty="0" smtClean="0"/>
              <a:t>1000</a:t>
            </a:r>
            <a:r>
              <a:rPr lang="zh-TW" altLang="en-US" dirty="0" smtClean="0"/>
              <a:t>提升至</a:t>
            </a:r>
            <a:r>
              <a:rPr lang="en-US" altLang="zh-TW" dirty="0"/>
              <a:t>5</a:t>
            </a:r>
            <a:r>
              <a:rPr lang="en-US" altLang="zh-TW" dirty="0" smtClean="0"/>
              <a:t>000)</a:t>
            </a:r>
            <a:r>
              <a:rPr lang="zh-TW" altLang="en-US" dirty="0" smtClean="0"/>
              <a:t>，為了避免計算過久，也會基於收斂程度降低溫度範圍</a:t>
            </a:r>
            <a:r>
              <a:rPr lang="en-US" altLang="zh-TW" dirty="0" smtClean="0"/>
              <a:t>(</a:t>
            </a:r>
            <a:r>
              <a:rPr lang="zh-TW" altLang="en-US" dirty="0" smtClean="0"/>
              <a:t>但保持同樣精度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74356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分析</a:t>
            </a:r>
            <a:r>
              <a:rPr lang="zh-TW" altLang="en-US" dirty="0"/>
              <a:t>：系統尺寸增加下之臨界溫度收斂行為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77334" y="1930400"/>
            <a:ext cx="5362193" cy="3880773"/>
          </a:xfrm>
        </p:spPr>
        <p:txBody>
          <a:bodyPr/>
          <a:lstStyle/>
          <a:p>
            <a:r>
              <a:rPr lang="zh-TW" altLang="en-US" dirty="0"/>
              <a:t>當系統尺寸</a:t>
            </a:r>
            <a:r>
              <a:rPr lang="zh-TW" altLang="en-US" dirty="0" smtClean="0"/>
              <a:t>增加，模擬溫度會</a:t>
            </a:r>
            <a:r>
              <a:rPr lang="zh-TW" altLang="en-US" dirty="0" smtClean="0"/>
              <a:t>逐漸</a:t>
            </a:r>
            <a:r>
              <a:rPr lang="zh-TW" altLang="en-US" dirty="0" smtClean="0"/>
              <a:t>接近</a:t>
            </a:r>
            <a:r>
              <a:rPr lang="zh-TW" altLang="en-US" dirty="0" smtClean="0"/>
              <a:t>理論溫度。</a:t>
            </a:r>
            <a:endParaRPr lang="en-US" altLang="zh-TW" dirty="0" smtClean="0"/>
          </a:p>
          <a:p>
            <a:r>
              <a:rPr lang="zh-TW" altLang="en-US" dirty="0" smtClean="0"/>
              <a:t>整體運行了兩遍，此為下降趨勢較明顯的一次結果。</a:t>
            </a:r>
            <a:endParaRPr lang="en-US" altLang="zh-TW" dirty="0" smtClean="0"/>
          </a:p>
          <a:p>
            <a:pPr marL="0" indent="0">
              <a:buNone/>
            </a:pP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2870" y="1431568"/>
            <a:ext cx="6184724" cy="4609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4124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總結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Monte Carlo simulation </a:t>
            </a:r>
            <a:r>
              <a:rPr lang="zh-TW" altLang="en-US" dirty="0"/>
              <a:t>成功重現了二維 </a:t>
            </a:r>
            <a:r>
              <a:rPr lang="en-US" altLang="zh-TW" dirty="0" err="1"/>
              <a:t>Ising</a:t>
            </a:r>
            <a:r>
              <a:rPr lang="en-US" altLang="zh-TW" dirty="0"/>
              <a:t> model </a:t>
            </a:r>
            <a:r>
              <a:rPr lang="zh-TW" altLang="en-US" dirty="0"/>
              <a:t>的相變</a:t>
            </a:r>
            <a:r>
              <a:rPr lang="zh-TW" altLang="en-US" dirty="0" smtClean="0"/>
              <a:t>行為</a:t>
            </a:r>
            <a:endParaRPr lang="en-US" altLang="zh-TW" dirty="0" smtClean="0"/>
          </a:p>
          <a:p>
            <a:r>
              <a:rPr lang="zh-TW" altLang="en-US" dirty="0"/>
              <a:t>在低溫狀態下，系統傾向維持有序排列；高溫下則</a:t>
            </a:r>
            <a:r>
              <a:rPr lang="zh-TW" altLang="en-US" dirty="0" smtClean="0"/>
              <a:t>因擾動</a:t>
            </a:r>
            <a:r>
              <a:rPr lang="zh-TW" altLang="en-US" dirty="0"/>
              <a:t>增加</a:t>
            </a:r>
            <a:r>
              <a:rPr lang="zh-TW" altLang="en-US" dirty="0" smtClean="0"/>
              <a:t>而混亂</a:t>
            </a:r>
            <a:endParaRPr lang="en-US" altLang="zh-TW" dirty="0" smtClean="0"/>
          </a:p>
          <a:p>
            <a:r>
              <a:rPr lang="zh-TW" altLang="en-US" dirty="0"/>
              <a:t>隨著 </a:t>
            </a:r>
            <a:r>
              <a:rPr lang="en-US" altLang="zh-TW" dirty="0"/>
              <a:t>lattice size </a:t>
            </a:r>
            <a:r>
              <a:rPr lang="zh-TW" altLang="en-US" dirty="0"/>
              <a:t>增加</a:t>
            </a:r>
            <a:r>
              <a:rPr lang="zh-TW" altLang="en-US" dirty="0" smtClean="0"/>
              <a:t>，模</a:t>
            </a:r>
            <a:r>
              <a:rPr lang="zh-TW" altLang="en-US" dirty="0"/>
              <a:t>擬</a:t>
            </a:r>
            <a:r>
              <a:rPr lang="zh-TW" altLang="en-US" dirty="0" smtClean="0"/>
              <a:t>溫度</a:t>
            </a:r>
            <a:r>
              <a:rPr lang="zh-TW" altLang="en-US" dirty="0"/>
              <a:t>會逐漸接近</a:t>
            </a:r>
            <a:r>
              <a:rPr lang="zh-TW" altLang="en-US" dirty="0" smtClean="0"/>
              <a:t>理論溫度</a:t>
            </a:r>
            <a:endParaRPr lang="en-US" altLang="zh-TW" dirty="0" smtClean="0"/>
          </a:p>
          <a:p>
            <a:r>
              <a:rPr lang="zh-TW" altLang="en-US" dirty="0" smtClean="0"/>
              <a:t>有限</a:t>
            </a:r>
            <a:r>
              <a:rPr lang="zh-TW" altLang="en-US" dirty="0"/>
              <a:t>尺寸</a:t>
            </a:r>
            <a:r>
              <a:rPr lang="zh-TW" altLang="en-US" dirty="0" smtClean="0"/>
              <a:t>系統存在</a:t>
            </a:r>
            <a:r>
              <a:rPr lang="zh-TW" altLang="en-US" dirty="0"/>
              <a:t>統計波動與數值誤差</a:t>
            </a:r>
            <a:r>
              <a:rPr lang="zh-TW" altLang="en-US" dirty="0" smtClean="0"/>
              <a:t>，結果</a:t>
            </a:r>
            <a:r>
              <a:rPr lang="zh-TW" altLang="en-US" dirty="0"/>
              <a:t>不會</a:t>
            </a:r>
            <a:r>
              <a:rPr lang="zh-TW" altLang="en-US" dirty="0" smtClean="0"/>
              <a:t>完全收斂，有部分反彈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700083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檔案存放位置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https://github.com/catlucky666/Ising-model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25754106"/>
      </p:ext>
    </p:extLst>
  </p:cSld>
  <p:clrMapOvr>
    <a:masterClrMapping/>
  </p:clrMapOvr>
</p:sld>
</file>

<file path=ppt/theme/theme1.xml><?xml version="1.0" encoding="utf-8"?>
<a:theme xmlns:a="http://schemas.openxmlformats.org/drawingml/2006/main" name="多面向">
  <a:themeElements>
    <a:clrScheme name="多面向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多面向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多面向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688</TotalTime>
  <Words>1034</Words>
  <Application>Microsoft Office PowerPoint</Application>
  <PresentationFormat>寬螢幕</PresentationFormat>
  <Paragraphs>85</Paragraphs>
  <Slides>20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20</vt:i4>
      </vt:variant>
    </vt:vector>
  </HeadingPairs>
  <TitlesOfParts>
    <vt:vector size="27" baseType="lpstr">
      <vt:lpstr>微軟正黑體</vt:lpstr>
      <vt:lpstr>Arial</vt:lpstr>
      <vt:lpstr>Calibri</vt:lpstr>
      <vt:lpstr>Cambria Math</vt:lpstr>
      <vt:lpstr>Trebuchet MS</vt:lpstr>
      <vt:lpstr>Wingdings 3</vt:lpstr>
      <vt:lpstr>多面向</vt:lpstr>
      <vt:lpstr>Ising model</vt:lpstr>
      <vt:lpstr>目錄</vt:lpstr>
      <vt:lpstr>Ising Model 介紹</vt:lpstr>
      <vt:lpstr>關於Ising model</vt:lpstr>
      <vt:lpstr>Ising model核心定義</vt:lpstr>
      <vt:lpstr>Ising model平衡狀態</vt:lpstr>
      <vt:lpstr>M , T</vt:lpstr>
      <vt:lpstr>algorithm介紹</vt:lpstr>
      <vt:lpstr>Monte Carlo Method</vt:lpstr>
      <vt:lpstr>Metropolis algorithm</vt:lpstr>
      <vt:lpstr>關於系統本身</vt:lpstr>
      <vt:lpstr>運行邏輯</vt:lpstr>
      <vt:lpstr>多核心平行運算</vt:lpstr>
      <vt:lpstr>分析結果與討論</vt:lpstr>
      <vt:lpstr>不同尺寸下的 M vs T</vt:lpstr>
      <vt:lpstr>10*10測試</vt:lpstr>
      <vt:lpstr>參數調整</vt:lpstr>
      <vt:lpstr>分析：系統尺寸增加下之臨界溫度收斂行為</vt:lpstr>
      <vt:lpstr>總結</vt:lpstr>
      <vt:lpstr>檔案存放位置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Ising model</dc:title>
  <dc:creator>Microsoft 帳戶</dc:creator>
  <cp:lastModifiedBy>Microsoft 帳戶</cp:lastModifiedBy>
  <cp:revision>41</cp:revision>
  <dcterms:created xsi:type="dcterms:W3CDTF">2026-05-08T14:43:25Z</dcterms:created>
  <dcterms:modified xsi:type="dcterms:W3CDTF">2026-05-23T14:54:21Z</dcterms:modified>
</cp:coreProperties>
</file>